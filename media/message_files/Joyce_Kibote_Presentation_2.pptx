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5" d="100"/>
          <a:sy n="95" d="100"/>
        </p:scale>
        <p:origin x="46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04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16088" y="455648"/>
            <a:ext cx="8094133" cy="4540532"/>
          </a:xfrm>
          <a:prstGeom prst="rect">
            <a:avLst/>
          </a:prstGeom>
          <a:solidFill>
            <a:srgbClr val="1B2A4A"/>
          </a:solidFill>
          <a:ln/>
        </p:spPr>
        <p:txBody>
          <a:bodyPr/>
          <a:lstStyle/>
          <a:p>
            <a:pPr algn="just">
              <a:lnSpc>
                <a:spcPct val="150000"/>
              </a:lnSpc>
            </a:pPr>
            <a:endParaRPr lang="en-US" sz="1000" dirty="0">
              <a:latin typeface="Times New Roman" panose="02020603050405020304" pitchFamily="18" charset="0"/>
              <a:cs typeface="Times New Roman" panose="02020603050405020304" pitchFamily="18" charset="0"/>
            </a:endParaRPr>
          </a:p>
        </p:txBody>
      </p:sp>
      <p:sp>
        <p:nvSpPr>
          <p:cNvPr id="3" name="Shape 1"/>
          <p:cNvSpPr/>
          <p:nvPr/>
        </p:nvSpPr>
        <p:spPr>
          <a:xfrm>
            <a:off x="368019" y="3495463"/>
            <a:ext cx="7591215" cy="1192389"/>
          </a:xfrm>
          <a:prstGeom prst="rect">
            <a:avLst/>
          </a:prstGeom>
          <a:solidFill>
            <a:srgbClr val="0D7B7A"/>
          </a:solidFill>
          <a:ln/>
        </p:spPr>
        <p:txBody>
          <a:bodyPr/>
          <a:lstStyle/>
          <a:p>
            <a:pPr algn="just">
              <a:lnSpc>
                <a:spcPct val="150000"/>
              </a:lnSpc>
            </a:pP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502920" y="502920"/>
            <a:ext cx="7772400" cy="1596813"/>
          </a:xfrm>
          <a:prstGeom prst="rect">
            <a:avLst/>
          </a:prstGeom>
          <a:noFill/>
          <a:ln/>
        </p:spPr>
        <p:txBody>
          <a:bodyPr wrap="square" rtlCol="0" anchor="t"/>
          <a:lstStyle/>
          <a:p>
            <a:pPr marL="0" indent="0" algn="just">
              <a:lnSpc>
                <a:spcPct val="15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THE ROLE OF ENTREPRENEURSHIP</a:t>
            </a:r>
            <a:r>
              <a:rPr lang="en-US" sz="1000" dirty="0">
                <a:latin typeface="Times New Roman" panose="02020603050405020304" pitchFamily="18" charset="0"/>
                <a:cs typeface="Times New Roman" panose="02020603050405020304" pitchFamily="18" charset="0"/>
              </a:rPr>
              <a:t> </a:t>
            </a: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AND INNOVATION IN PROMOTING</a:t>
            </a:r>
            <a:endParaRPr lang="en-US" sz="1000" dirty="0">
              <a:latin typeface="Times New Roman" panose="02020603050405020304" pitchFamily="18" charset="0"/>
              <a:cs typeface="Times New Roman" panose="02020603050405020304" pitchFamily="18" charset="0"/>
            </a:endParaRPr>
          </a:p>
          <a:p>
            <a:pPr algn="just">
              <a:lnSpc>
                <a:spcPct val="150000"/>
              </a:lnSpc>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ECONOMIC </a:t>
            </a:r>
            <a:r>
              <a:rPr lang="en-US" sz="1000" b="1">
                <a:solidFill>
                  <a:srgbClr val="FFFFFF"/>
                </a:solidFill>
                <a:latin typeface="Times New Roman" panose="02020603050405020304" pitchFamily="18" charset="0"/>
                <a:ea typeface="Calibri" pitchFamily="34" charset="-122"/>
                <a:cs typeface="Times New Roman" panose="02020603050405020304" pitchFamily="18" charset="0"/>
              </a:rPr>
              <a:t>EMPOWERMENT </a:t>
            </a:r>
            <a:endParaRPr lang="en-US" sz="1000"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000" dirty="0">
              <a:latin typeface="Times New Roman" panose="02020603050405020304" pitchFamily="18" charset="0"/>
              <a:cs typeface="Times New Roman" panose="02020603050405020304" pitchFamily="18" charset="0"/>
            </a:endParaRPr>
          </a:p>
        </p:txBody>
      </p:sp>
      <p:sp>
        <p:nvSpPr>
          <p:cNvPr id="6" name="Text 4"/>
          <p:cNvSpPr/>
          <p:nvPr/>
        </p:nvSpPr>
        <p:spPr>
          <a:xfrm>
            <a:off x="502920" y="1943100"/>
            <a:ext cx="7433169" cy="1074420"/>
          </a:xfrm>
          <a:prstGeom prst="rect">
            <a:avLst/>
          </a:prstGeom>
          <a:noFill/>
          <a:ln/>
        </p:spPr>
        <p:txBody>
          <a:bodyPr wrap="square" rtlCol="0" anchor="ctr"/>
          <a:lstStyle/>
          <a:p>
            <a:pPr marL="0" indent="0" algn="just">
              <a:lnSpc>
                <a:spcPct val="150000"/>
              </a:lnSpc>
              <a:buNone/>
            </a:pPr>
            <a:endParaRPr lang="en-US" sz="1000" b="1" dirty="0">
              <a:latin typeface="Times New Roman" panose="02020603050405020304" pitchFamily="18" charset="0"/>
              <a:cs typeface="Times New Roman" panose="02020603050405020304" pitchFamily="18" charset="0"/>
            </a:endParaRPr>
          </a:p>
        </p:txBody>
      </p:sp>
      <p:sp>
        <p:nvSpPr>
          <p:cNvPr id="8" name="Text 6"/>
          <p:cNvSpPr/>
          <p:nvPr/>
        </p:nvSpPr>
        <p:spPr>
          <a:xfrm>
            <a:off x="502920" y="2118021"/>
            <a:ext cx="7772400" cy="1596813"/>
          </a:xfrm>
          <a:prstGeom prst="rect">
            <a:avLst/>
          </a:prstGeom>
          <a:noFill/>
          <a:ln/>
        </p:spPr>
        <p:txBody>
          <a:bodyPr wrap="square" rtlCol="0" anchor="ctr"/>
          <a:lstStyle/>
          <a:p>
            <a:pPr marL="0" indent="0" algn="just">
              <a:lnSpc>
                <a:spcPct val="150000"/>
              </a:lnSpc>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Joyce Wambui Kibote</a:t>
            </a:r>
            <a:endParaRPr lang="en-US" sz="1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000" dirty="0">
                <a:solidFill>
                  <a:srgbClr val="FFFFFF"/>
                </a:solidFill>
                <a:latin typeface="Times New Roman" panose="02020603050405020304" pitchFamily="18" charset="0"/>
                <a:ea typeface="Calibri" pitchFamily="34" charset="-122"/>
                <a:cs typeface="Times New Roman" panose="02020603050405020304" pitchFamily="18" charset="0"/>
              </a:rPr>
              <a:t>Mathenge Technical and Training Institute</a:t>
            </a:r>
            <a:endParaRPr lang="en-US" sz="1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000" i="1" dirty="0">
                <a:solidFill>
                  <a:srgbClr val="FFFFFF"/>
                </a:solidFill>
                <a:latin typeface="Times New Roman" panose="02020603050405020304" pitchFamily="18" charset="0"/>
                <a:ea typeface="Calibri" pitchFamily="34" charset="-122"/>
                <a:cs typeface="Times New Roman" panose="02020603050405020304" pitchFamily="18" charset="0"/>
              </a:rPr>
              <a:t>1st International Conference on Research, Innovation, Science &amp; Technology</a:t>
            </a:r>
            <a:endParaRPr lang="en-US" sz="1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000" dirty="0">
                <a:solidFill>
                  <a:srgbClr val="FFFFFF"/>
                </a:solidFill>
                <a:latin typeface="Times New Roman" panose="02020603050405020304" pitchFamily="18" charset="0"/>
                <a:ea typeface="Calibri" pitchFamily="34" charset="-122"/>
                <a:cs typeface="Times New Roman" panose="02020603050405020304" pitchFamily="18" charset="0"/>
              </a:rPr>
              <a:t>19–20 February 2026</a:t>
            </a:r>
            <a:endParaRPr lang="en-US" sz="1000" dirty="0">
              <a:latin typeface="Times New Roman" panose="02020603050405020304" pitchFamily="18" charset="0"/>
              <a:cs typeface="Times New Roman" panose="02020603050405020304" pitchFamily="18" charset="0"/>
            </a:endParaRPr>
          </a:p>
        </p:txBody>
      </p:sp>
      <p:sp>
        <p:nvSpPr>
          <p:cNvPr id="9" name="Text 7"/>
          <p:cNvSpPr/>
          <p:nvPr/>
        </p:nvSpPr>
        <p:spPr>
          <a:xfrm>
            <a:off x="502920" y="3733122"/>
            <a:ext cx="8489244" cy="685800"/>
          </a:xfrm>
          <a:prstGeom prst="rect">
            <a:avLst/>
          </a:prstGeom>
          <a:noFill/>
          <a:ln/>
        </p:spPr>
        <p:txBody>
          <a:bodyPr wrap="square" lIns="0" tIns="0" rIns="0" bIns="0" rtlCol="0" anchor="ctr"/>
          <a:lstStyle/>
          <a:p>
            <a:pPr marL="0" indent="0" algn="just">
              <a:lnSpc>
                <a:spcPct val="150000"/>
              </a:lnSpc>
              <a:buNone/>
            </a:pPr>
            <a:r>
              <a:rPr lang="en-US" sz="1000" b="1" i="1" dirty="0">
                <a:solidFill>
                  <a:srgbClr val="FFFFFF"/>
                </a:solidFill>
                <a:latin typeface="Times New Roman" panose="02020603050405020304" pitchFamily="18" charset="0"/>
                <a:ea typeface="Calibri" pitchFamily="34" charset="-122"/>
                <a:cs typeface="Times New Roman" panose="02020603050405020304" pitchFamily="18" charset="0"/>
              </a:rPr>
              <a:t>Theme: Harnessing Research, Innovation and Technology for Sustainable Economic Development and Youth Empowerment</a:t>
            </a:r>
            <a:endParaRPr lang="en-US" sz="1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1005840"/>
            <a:ext cx="8503920" cy="3566160"/>
          </a:xfrm>
          <a:prstGeom prst="rect">
            <a:avLst/>
          </a:prstGeom>
          <a:solidFill>
            <a:srgbClr val="FFFFFF"/>
          </a:solidFill>
          <a:ln/>
          <a:effectLst>
            <a:outerShdw blurRad="63500" dist="25400" dir="8100000" algn="bl" rotWithShape="0">
              <a:srgbClr val="000000">
                <a:alpha val="10000"/>
              </a:srgbClr>
            </a:outerShdw>
          </a:effectLst>
        </p:spPr>
      </p:sp>
      <p:sp>
        <p:nvSpPr>
          <p:cNvPr id="9" name="Text 7"/>
          <p:cNvSpPr/>
          <p:nvPr/>
        </p:nvSpPr>
        <p:spPr>
          <a:xfrm>
            <a:off x="502920" y="1078992"/>
            <a:ext cx="8229600" cy="3429000"/>
          </a:xfrm>
          <a:prstGeom prst="rect">
            <a:avLst/>
          </a:prstGeom>
          <a:noFill/>
          <a:ln/>
        </p:spPr>
        <p:txBody>
          <a:bodyPr wrap="square" rtlCol="0" anchor="t"/>
          <a:lstStyle/>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Addresses youth unemployment, limited formal employment, and gender inequality in Kenya through entrepreneurship and innovation.</a:t>
            </a:r>
            <a:endParaRPr lang="en-US" sz="1250" dirty="0"/>
          </a:p>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MSMEs are central to assessing entrepreneurship's contribution to economic empowerment among youth, women, and TVET trainees.</a:t>
            </a:r>
            <a:endParaRPr lang="en-US" sz="1250" dirty="0"/>
          </a:p>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Examines how entrepreneurship skills, innovation practices, and support systems influence job creation and sustainable livelihoods.</a:t>
            </a:r>
            <a:endParaRPr lang="en-US" sz="1250" dirty="0"/>
          </a:p>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Identifies Vision 2030, BETA, and strengthened TVET institutions as key drivers of self-employment and skills development.</a:t>
            </a:r>
            <a:endParaRPr lang="en-US" sz="1250" dirty="0"/>
          </a:p>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Quantitative design using structured questionnaires (n=39); analysis via Microsoft Excel.</a:t>
            </a:r>
            <a:endParaRPr lang="en-US" sz="1250" dirty="0"/>
          </a:p>
          <a:p>
            <a:pPr marL="342900" indent="-342900">
              <a:spcAft>
                <a:spcPts val="600"/>
              </a:spcAft>
              <a:buSzPct val="100000"/>
              <a:buChar char="•"/>
            </a:pPr>
            <a:r>
              <a:rPr lang="en-US" sz="1250" dirty="0">
                <a:solidFill>
                  <a:srgbClr val="1B2A4A"/>
                </a:solidFill>
                <a:latin typeface="Calibri" pitchFamily="34" charset="0"/>
                <a:ea typeface="Calibri" pitchFamily="34" charset="-122"/>
                <a:cs typeface="Calibri" pitchFamily="34" charset="-120"/>
              </a:rPr>
              <a:t>Recommends strengthened entrepreneurship education, innovation-driven training, and inclusive national economic policies.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&amp; Purpose</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274320" y="714192"/>
            <a:ext cx="5120640" cy="2057400"/>
          </a:xfrm>
          <a:prstGeom prst="rect">
            <a:avLst/>
          </a:prstGeom>
          <a:solidFill>
            <a:srgbClr val="FFFFFF"/>
          </a:solidFill>
          <a:ln/>
          <a:effectLst>
            <a:outerShdw blurRad="50800" dist="25400" dir="8100000" algn="bl" rotWithShape="0">
              <a:srgbClr val="000000">
                <a:alpha val="10000"/>
              </a:srgbClr>
            </a:outerShdw>
          </a:effectLst>
        </p:spPr>
      </p:sp>
      <p:sp>
        <p:nvSpPr>
          <p:cNvPr id="9" name="Shape 7"/>
          <p:cNvSpPr/>
          <p:nvPr/>
        </p:nvSpPr>
        <p:spPr>
          <a:xfrm>
            <a:off x="320040" y="987552"/>
            <a:ext cx="73152" cy="2057400"/>
          </a:xfrm>
          <a:prstGeom prst="rect">
            <a:avLst/>
          </a:prstGeom>
          <a:solidFill>
            <a:srgbClr val="D4A017"/>
          </a:solidFill>
          <a:ln/>
        </p:spPr>
      </p:sp>
      <p:sp>
        <p:nvSpPr>
          <p:cNvPr id="10" name="Text 8"/>
          <p:cNvSpPr/>
          <p:nvPr/>
        </p:nvSpPr>
        <p:spPr>
          <a:xfrm>
            <a:off x="457200" y="987552"/>
            <a:ext cx="4937760" cy="34747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Problem Statement</a:t>
            </a:r>
            <a:endParaRPr lang="en-US" sz="1300" dirty="0"/>
          </a:p>
        </p:txBody>
      </p:sp>
      <p:sp>
        <p:nvSpPr>
          <p:cNvPr id="11" name="Text 9"/>
          <p:cNvSpPr/>
          <p:nvPr/>
        </p:nvSpPr>
        <p:spPr>
          <a:xfrm>
            <a:off x="502920" y="1353312"/>
            <a:ext cx="4846320" cy="1600200"/>
          </a:xfrm>
          <a:prstGeom prst="rect">
            <a:avLst/>
          </a:prstGeom>
          <a:noFill/>
          <a:ln/>
        </p:spPr>
        <p:txBody>
          <a:bodyPr wrap="square" rtlCol="0" anchor="t"/>
          <a:lstStyle/>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Youth &amp; women unemployment persists despite policy interventions</a:t>
            </a:r>
            <a:endParaRPr lang="en-US" sz="1100" dirty="0"/>
          </a:p>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Gaps between TVET entrepreneurship curricula and real-world enterprise needs</a:t>
            </a:r>
            <a:endParaRPr lang="en-US" sz="1100" dirty="0"/>
          </a:p>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Limited access to capital, weak support systems, and regulatory constraints</a:t>
            </a:r>
            <a:endParaRPr lang="en-US" sz="1100" dirty="0"/>
          </a:p>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Underutilization of entrepreneurship &amp; innovation as empowerment tools</a:t>
            </a:r>
            <a:endParaRPr lang="en-US" sz="1100" dirty="0"/>
          </a:p>
        </p:txBody>
      </p:sp>
      <p:sp>
        <p:nvSpPr>
          <p:cNvPr id="12" name="Shape 10"/>
          <p:cNvSpPr/>
          <p:nvPr/>
        </p:nvSpPr>
        <p:spPr>
          <a:xfrm>
            <a:off x="5577840" y="987552"/>
            <a:ext cx="3246120" cy="1784040"/>
          </a:xfrm>
          <a:prstGeom prst="rect">
            <a:avLst/>
          </a:prstGeom>
          <a:solidFill>
            <a:srgbClr val="FFFFFF"/>
          </a:solidFill>
          <a:ln/>
          <a:effectLst>
            <a:outerShdw blurRad="50800" dist="25400" dir="8100000" algn="bl" rotWithShape="0">
              <a:srgbClr val="000000">
                <a:alpha val="10000"/>
              </a:srgbClr>
            </a:outerShdw>
          </a:effectLst>
        </p:spPr>
      </p:sp>
      <p:sp>
        <p:nvSpPr>
          <p:cNvPr id="13" name="Shape 11"/>
          <p:cNvSpPr/>
          <p:nvPr/>
        </p:nvSpPr>
        <p:spPr>
          <a:xfrm>
            <a:off x="5577840" y="987552"/>
            <a:ext cx="73152" cy="2057400"/>
          </a:xfrm>
          <a:prstGeom prst="rect">
            <a:avLst/>
          </a:prstGeom>
          <a:solidFill>
            <a:srgbClr val="D4A017"/>
          </a:solidFill>
          <a:ln/>
        </p:spPr>
      </p:sp>
      <p:sp>
        <p:nvSpPr>
          <p:cNvPr id="14" name="Text 12"/>
          <p:cNvSpPr/>
          <p:nvPr/>
        </p:nvSpPr>
        <p:spPr>
          <a:xfrm>
            <a:off x="5715000" y="987552"/>
            <a:ext cx="3063240" cy="34747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Purpose</a:t>
            </a:r>
            <a:endParaRPr lang="en-US" sz="1300" dirty="0"/>
          </a:p>
        </p:txBody>
      </p:sp>
      <p:sp>
        <p:nvSpPr>
          <p:cNvPr id="15" name="Text 13"/>
          <p:cNvSpPr/>
          <p:nvPr/>
        </p:nvSpPr>
        <p:spPr>
          <a:xfrm>
            <a:off x="5760720" y="1353312"/>
            <a:ext cx="2971800" cy="1600200"/>
          </a:xfrm>
          <a:prstGeom prst="rect">
            <a:avLst/>
          </a:prstGeom>
          <a:noFill/>
          <a:ln/>
        </p:spPr>
        <p:txBody>
          <a:bodyPr wrap="square" rtlCol="0" anchor="t"/>
          <a:lstStyle/>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Examine the role of entrepreneurship &amp; innovation in economic empowerment</a:t>
            </a:r>
            <a:endParaRPr lang="en-US" sz="1100" dirty="0"/>
          </a:p>
          <a:p>
            <a:pPr marL="342900" indent="-342900">
              <a:buSzPct val="100000"/>
              <a:buChar char="•"/>
            </a:pPr>
            <a:r>
              <a:rPr lang="en-US" sz="1100" dirty="0">
                <a:solidFill>
                  <a:srgbClr val="1B2A4A"/>
                </a:solidFill>
                <a:latin typeface="Calibri" pitchFamily="34" charset="0"/>
                <a:ea typeface="Calibri" pitchFamily="34" charset="-122"/>
                <a:cs typeface="Calibri" pitchFamily="34" charset="-120"/>
              </a:rPr>
              <a:t>Assess how skills, support systems &amp; innovation influence job creation &amp; sustainable livelihoods</a:t>
            </a:r>
            <a:endParaRPr lang="en-US" sz="1100" dirty="0"/>
          </a:p>
        </p:txBody>
      </p:sp>
      <p:sp>
        <p:nvSpPr>
          <p:cNvPr id="16" name="Shape 14"/>
          <p:cNvSpPr/>
          <p:nvPr/>
        </p:nvSpPr>
        <p:spPr>
          <a:xfrm>
            <a:off x="274320" y="3246120"/>
            <a:ext cx="1572768" cy="457200"/>
          </a:xfrm>
          <a:prstGeom prst="rect">
            <a:avLst/>
          </a:prstGeom>
          <a:solidFill>
            <a:srgbClr val="0D7B7A"/>
          </a:solidFill>
          <a:ln/>
        </p:spPr>
      </p:sp>
      <p:sp>
        <p:nvSpPr>
          <p:cNvPr id="17" name="Text 15"/>
          <p:cNvSpPr/>
          <p:nvPr/>
        </p:nvSpPr>
        <p:spPr>
          <a:xfrm>
            <a:off x="320040" y="3246120"/>
            <a:ext cx="1572768"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Entrepreneurship</a:t>
            </a:r>
            <a:endParaRPr lang="en-US" sz="1050" dirty="0"/>
          </a:p>
        </p:txBody>
      </p:sp>
      <p:sp>
        <p:nvSpPr>
          <p:cNvPr id="18" name="Shape 16"/>
          <p:cNvSpPr/>
          <p:nvPr/>
        </p:nvSpPr>
        <p:spPr>
          <a:xfrm>
            <a:off x="2039112" y="3246120"/>
            <a:ext cx="1572768" cy="457200"/>
          </a:xfrm>
          <a:prstGeom prst="rect">
            <a:avLst/>
          </a:prstGeom>
          <a:solidFill>
            <a:srgbClr val="0D7B7A"/>
          </a:solidFill>
          <a:ln/>
        </p:spPr>
      </p:sp>
      <p:sp>
        <p:nvSpPr>
          <p:cNvPr id="19" name="Text 17"/>
          <p:cNvSpPr/>
          <p:nvPr/>
        </p:nvSpPr>
        <p:spPr>
          <a:xfrm>
            <a:off x="2039112" y="3246120"/>
            <a:ext cx="1572768"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Innovation</a:t>
            </a:r>
            <a:endParaRPr lang="en-US" sz="1050" dirty="0"/>
          </a:p>
        </p:txBody>
      </p:sp>
      <p:sp>
        <p:nvSpPr>
          <p:cNvPr id="20" name="Shape 18"/>
          <p:cNvSpPr/>
          <p:nvPr/>
        </p:nvSpPr>
        <p:spPr>
          <a:xfrm>
            <a:off x="3758184" y="3246120"/>
            <a:ext cx="1572768" cy="457200"/>
          </a:xfrm>
          <a:prstGeom prst="rect">
            <a:avLst/>
          </a:prstGeom>
          <a:solidFill>
            <a:srgbClr val="0D7B7A"/>
          </a:solidFill>
          <a:ln/>
        </p:spPr>
      </p:sp>
      <p:sp>
        <p:nvSpPr>
          <p:cNvPr id="21" name="Text 19"/>
          <p:cNvSpPr/>
          <p:nvPr/>
        </p:nvSpPr>
        <p:spPr>
          <a:xfrm>
            <a:off x="3758184" y="3246120"/>
            <a:ext cx="1572768"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MSMEs</a:t>
            </a:r>
            <a:endParaRPr lang="en-US" sz="1050" dirty="0"/>
          </a:p>
        </p:txBody>
      </p:sp>
      <p:sp>
        <p:nvSpPr>
          <p:cNvPr id="22" name="Shape 20"/>
          <p:cNvSpPr/>
          <p:nvPr/>
        </p:nvSpPr>
        <p:spPr>
          <a:xfrm>
            <a:off x="5477256" y="3246120"/>
            <a:ext cx="1572768" cy="457200"/>
          </a:xfrm>
          <a:prstGeom prst="rect">
            <a:avLst/>
          </a:prstGeom>
          <a:solidFill>
            <a:srgbClr val="0D7B7A"/>
          </a:solidFill>
          <a:ln/>
        </p:spPr>
      </p:sp>
      <p:sp>
        <p:nvSpPr>
          <p:cNvPr id="23" name="Text 21"/>
          <p:cNvSpPr/>
          <p:nvPr/>
        </p:nvSpPr>
        <p:spPr>
          <a:xfrm>
            <a:off x="5477256" y="3246120"/>
            <a:ext cx="1572768"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TVET</a:t>
            </a:r>
            <a:endParaRPr lang="en-US" sz="1050" dirty="0"/>
          </a:p>
        </p:txBody>
      </p:sp>
      <p:sp>
        <p:nvSpPr>
          <p:cNvPr id="24" name="Shape 22"/>
          <p:cNvSpPr/>
          <p:nvPr/>
        </p:nvSpPr>
        <p:spPr>
          <a:xfrm>
            <a:off x="7196328" y="3246120"/>
            <a:ext cx="1572768" cy="457200"/>
          </a:xfrm>
          <a:prstGeom prst="rect">
            <a:avLst/>
          </a:prstGeom>
          <a:solidFill>
            <a:srgbClr val="0D7B7A"/>
          </a:solidFill>
          <a:ln/>
        </p:spPr>
      </p:sp>
      <p:sp>
        <p:nvSpPr>
          <p:cNvPr id="25" name="Text 23"/>
          <p:cNvSpPr/>
          <p:nvPr/>
        </p:nvSpPr>
        <p:spPr>
          <a:xfrm>
            <a:off x="7196328" y="3246120"/>
            <a:ext cx="1572768"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Empowerment</a:t>
            </a:r>
            <a:endParaRPr lang="en-US" sz="1050" dirty="0"/>
          </a:p>
        </p:txBody>
      </p:sp>
      <p:sp>
        <p:nvSpPr>
          <p:cNvPr id="26" name="Text 24"/>
          <p:cNvSpPr/>
          <p:nvPr/>
        </p:nvSpPr>
        <p:spPr>
          <a:xfrm>
            <a:off x="320040" y="2999232"/>
            <a:ext cx="8503920" cy="256032"/>
          </a:xfrm>
          <a:prstGeom prst="rect">
            <a:avLst/>
          </a:prstGeom>
          <a:noFill/>
          <a:ln/>
        </p:spPr>
        <p:txBody>
          <a:bodyPr wrap="square" rtlCol="0" anchor="ctr"/>
          <a:lstStyle/>
          <a:p>
            <a:pPr marL="0" indent="0">
              <a:buNone/>
            </a:pPr>
            <a:r>
              <a:rPr lang="en-US" sz="1000" b="1" dirty="0">
                <a:solidFill>
                  <a:srgbClr val="6B7A90"/>
                </a:solidFill>
                <a:latin typeface="Calibri" pitchFamily="34" charset="0"/>
                <a:ea typeface="Calibri" pitchFamily="34" charset="-122"/>
                <a:cs typeface="Calibri" pitchFamily="34" charset="-120"/>
              </a:rPr>
              <a:t>KEY CONCEPTS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Objectives &amp; Research Questions</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Text 6"/>
          <p:cNvSpPr/>
          <p:nvPr/>
        </p:nvSpPr>
        <p:spPr>
          <a:xfrm>
            <a:off x="320040" y="969264"/>
            <a:ext cx="4206240" cy="274320"/>
          </a:xfrm>
          <a:prstGeom prst="rect">
            <a:avLst/>
          </a:prstGeom>
          <a:noFill/>
          <a:ln/>
        </p:spPr>
        <p:txBody>
          <a:bodyPr wrap="square" rtlCol="0" anchor="ctr"/>
          <a:lstStyle/>
          <a:p>
            <a:pPr marL="0" indent="0">
              <a:buNone/>
            </a:pPr>
            <a:r>
              <a:rPr lang="en-US" sz="1000" b="1" kern="0" spc="100" dirty="0">
                <a:solidFill>
                  <a:srgbClr val="0D7B7A"/>
                </a:solidFill>
                <a:latin typeface="Calibri" pitchFamily="34" charset="0"/>
                <a:ea typeface="Calibri" pitchFamily="34" charset="-122"/>
                <a:cs typeface="Calibri" pitchFamily="34" charset="-120"/>
              </a:rPr>
              <a:t>SPECIFIC OBJECTIVES</a:t>
            </a:r>
            <a:endParaRPr lang="en-US" sz="1000" dirty="0"/>
          </a:p>
        </p:txBody>
      </p:sp>
      <p:sp>
        <p:nvSpPr>
          <p:cNvPr id="9" name="Shape 7"/>
          <p:cNvSpPr/>
          <p:nvPr/>
        </p:nvSpPr>
        <p:spPr>
          <a:xfrm>
            <a:off x="320040" y="1298448"/>
            <a:ext cx="347472" cy="347472"/>
          </a:xfrm>
          <a:prstGeom prst="ellipse">
            <a:avLst/>
          </a:prstGeom>
          <a:solidFill>
            <a:srgbClr val="1B2A4A"/>
          </a:solidFill>
          <a:ln/>
        </p:spPr>
      </p:sp>
      <p:sp>
        <p:nvSpPr>
          <p:cNvPr id="10" name="Text 8"/>
          <p:cNvSpPr/>
          <p:nvPr/>
        </p:nvSpPr>
        <p:spPr>
          <a:xfrm>
            <a:off x="320040"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Shape 9"/>
          <p:cNvSpPr/>
          <p:nvPr/>
        </p:nvSpPr>
        <p:spPr>
          <a:xfrm>
            <a:off x="749808" y="1316736"/>
            <a:ext cx="3840480" cy="310896"/>
          </a:xfrm>
          <a:prstGeom prst="rect">
            <a:avLst/>
          </a:prstGeom>
          <a:solidFill>
            <a:srgbClr val="FFFFFF"/>
          </a:solidFill>
          <a:ln/>
          <a:effectLst>
            <a:outerShdw blurRad="38100" dist="12700" dir="8100000" algn="bl" rotWithShape="0">
              <a:srgbClr val="000000">
                <a:alpha val="8000"/>
              </a:srgbClr>
            </a:outerShdw>
          </a:effectLst>
        </p:spPr>
      </p:sp>
      <p:sp>
        <p:nvSpPr>
          <p:cNvPr id="12" name="Text 10"/>
          <p:cNvSpPr/>
          <p:nvPr/>
        </p:nvSpPr>
        <p:spPr>
          <a:xfrm>
            <a:off x="822960" y="1316736"/>
            <a:ext cx="3749040" cy="310896"/>
          </a:xfrm>
          <a:prstGeom prst="rect">
            <a:avLst/>
          </a:prstGeom>
          <a:noFill/>
          <a:ln/>
        </p:spPr>
        <p:txBody>
          <a:bodyPr wrap="square" lIns="0" tIns="0" rIns="0" bIns="0" rtlCol="0" anchor="ctr"/>
          <a:lstStyle/>
          <a:p>
            <a:pPr marL="0" indent="0">
              <a:buNone/>
            </a:pPr>
            <a:r>
              <a:rPr lang="en-US" sz="1050" dirty="0">
                <a:solidFill>
                  <a:srgbClr val="1B2A4A"/>
                </a:solidFill>
                <a:latin typeface="Calibri" pitchFamily="34" charset="0"/>
                <a:ea typeface="Calibri" pitchFamily="34" charset="-122"/>
                <a:cs typeface="Calibri" pitchFamily="34" charset="-120"/>
              </a:rPr>
              <a:t>Determine influence of entrepreneurship skills on job creation &amp; income generation</a:t>
            </a:r>
            <a:endParaRPr lang="en-US" sz="1050" dirty="0"/>
          </a:p>
        </p:txBody>
      </p:sp>
      <p:sp>
        <p:nvSpPr>
          <p:cNvPr id="13" name="Shape 11"/>
          <p:cNvSpPr/>
          <p:nvPr/>
        </p:nvSpPr>
        <p:spPr>
          <a:xfrm>
            <a:off x="320040" y="2075688"/>
            <a:ext cx="347472" cy="347472"/>
          </a:xfrm>
          <a:prstGeom prst="ellipse">
            <a:avLst/>
          </a:prstGeom>
          <a:solidFill>
            <a:srgbClr val="1B2A4A"/>
          </a:solidFill>
          <a:ln/>
        </p:spPr>
      </p:sp>
      <p:sp>
        <p:nvSpPr>
          <p:cNvPr id="14" name="Text 12"/>
          <p:cNvSpPr/>
          <p:nvPr/>
        </p:nvSpPr>
        <p:spPr>
          <a:xfrm>
            <a:off x="320040" y="20756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3"/>
          <p:cNvSpPr/>
          <p:nvPr/>
        </p:nvSpPr>
        <p:spPr>
          <a:xfrm>
            <a:off x="749808" y="2093976"/>
            <a:ext cx="3840480" cy="310896"/>
          </a:xfrm>
          <a:prstGeom prst="rect">
            <a:avLst/>
          </a:prstGeom>
          <a:solidFill>
            <a:srgbClr val="FFFFFF"/>
          </a:solidFill>
          <a:ln/>
          <a:effectLst>
            <a:outerShdw blurRad="38100" dist="12700" dir="8100000" algn="bl" rotWithShape="0">
              <a:srgbClr val="000000">
                <a:alpha val="8000"/>
              </a:srgbClr>
            </a:outerShdw>
          </a:effectLst>
        </p:spPr>
      </p:sp>
      <p:sp>
        <p:nvSpPr>
          <p:cNvPr id="16" name="Text 14"/>
          <p:cNvSpPr/>
          <p:nvPr/>
        </p:nvSpPr>
        <p:spPr>
          <a:xfrm>
            <a:off x="822960" y="2093976"/>
            <a:ext cx="3749040" cy="310896"/>
          </a:xfrm>
          <a:prstGeom prst="rect">
            <a:avLst/>
          </a:prstGeom>
          <a:noFill/>
          <a:ln/>
        </p:spPr>
        <p:txBody>
          <a:bodyPr wrap="square" lIns="0" tIns="0" rIns="0" bIns="0" rtlCol="0" anchor="ctr"/>
          <a:lstStyle/>
          <a:p>
            <a:pPr marL="0" indent="0">
              <a:buNone/>
            </a:pPr>
            <a:r>
              <a:rPr lang="en-US" sz="1050" dirty="0">
                <a:solidFill>
                  <a:srgbClr val="1B2A4A"/>
                </a:solidFill>
                <a:latin typeface="Calibri" pitchFamily="34" charset="0"/>
                <a:ea typeface="Calibri" pitchFamily="34" charset="-122"/>
                <a:cs typeface="Calibri" pitchFamily="34" charset="-120"/>
              </a:rPr>
              <a:t>Examine role of innovation practices in enhancing sustainable livelihoods</a:t>
            </a:r>
            <a:endParaRPr lang="en-US" sz="1050" dirty="0"/>
          </a:p>
        </p:txBody>
      </p:sp>
      <p:sp>
        <p:nvSpPr>
          <p:cNvPr id="17" name="Shape 15"/>
          <p:cNvSpPr/>
          <p:nvPr/>
        </p:nvSpPr>
        <p:spPr>
          <a:xfrm>
            <a:off x="320040" y="2852928"/>
            <a:ext cx="347472" cy="347472"/>
          </a:xfrm>
          <a:prstGeom prst="ellipse">
            <a:avLst/>
          </a:prstGeom>
          <a:solidFill>
            <a:srgbClr val="1B2A4A"/>
          </a:solidFill>
          <a:ln/>
        </p:spPr>
      </p:sp>
      <p:sp>
        <p:nvSpPr>
          <p:cNvPr id="18" name="Text 16"/>
          <p:cNvSpPr/>
          <p:nvPr/>
        </p:nvSpPr>
        <p:spPr>
          <a:xfrm>
            <a:off x="320040" y="28529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Shape 17"/>
          <p:cNvSpPr/>
          <p:nvPr/>
        </p:nvSpPr>
        <p:spPr>
          <a:xfrm>
            <a:off x="749808" y="2871216"/>
            <a:ext cx="3840480" cy="310896"/>
          </a:xfrm>
          <a:prstGeom prst="rect">
            <a:avLst/>
          </a:prstGeom>
          <a:solidFill>
            <a:srgbClr val="FFFFFF"/>
          </a:solidFill>
          <a:ln/>
          <a:effectLst>
            <a:outerShdw blurRad="38100" dist="12700" dir="8100000" algn="bl" rotWithShape="0">
              <a:srgbClr val="000000">
                <a:alpha val="8000"/>
              </a:srgbClr>
            </a:outerShdw>
          </a:effectLst>
        </p:spPr>
      </p:sp>
      <p:sp>
        <p:nvSpPr>
          <p:cNvPr id="20" name="Text 18"/>
          <p:cNvSpPr/>
          <p:nvPr/>
        </p:nvSpPr>
        <p:spPr>
          <a:xfrm>
            <a:off x="822960" y="2871216"/>
            <a:ext cx="3749040" cy="310896"/>
          </a:xfrm>
          <a:prstGeom prst="rect">
            <a:avLst/>
          </a:prstGeom>
          <a:noFill/>
          <a:ln/>
        </p:spPr>
        <p:txBody>
          <a:bodyPr wrap="square" lIns="0" tIns="0" rIns="0" bIns="0" rtlCol="0" anchor="ctr"/>
          <a:lstStyle/>
          <a:p>
            <a:pPr marL="0" indent="0">
              <a:buNone/>
            </a:pPr>
            <a:r>
              <a:rPr lang="en-US" sz="1050" dirty="0">
                <a:solidFill>
                  <a:srgbClr val="1B2A4A"/>
                </a:solidFill>
                <a:latin typeface="Calibri" pitchFamily="34" charset="0"/>
                <a:ea typeface="Calibri" pitchFamily="34" charset="-122"/>
                <a:cs typeface="Calibri" pitchFamily="34" charset="-120"/>
              </a:rPr>
              <a:t>Assess effect of support systems (finance, training, policy) on entrepreneurial success</a:t>
            </a:r>
            <a:endParaRPr lang="en-US" sz="1050" dirty="0"/>
          </a:p>
        </p:txBody>
      </p:sp>
      <p:sp>
        <p:nvSpPr>
          <p:cNvPr id="21" name="Shape 19"/>
          <p:cNvSpPr/>
          <p:nvPr/>
        </p:nvSpPr>
        <p:spPr>
          <a:xfrm>
            <a:off x="320040" y="3630168"/>
            <a:ext cx="347472" cy="347472"/>
          </a:xfrm>
          <a:prstGeom prst="ellipse">
            <a:avLst/>
          </a:prstGeom>
          <a:solidFill>
            <a:srgbClr val="1B2A4A"/>
          </a:solidFill>
          <a:ln/>
        </p:spPr>
      </p:sp>
      <p:sp>
        <p:nvSpPr>
          <p:cNvPr id="22" name="Text 20"/>
          <p:cNvSpPr/>
          <p:nvPr/>
        </p:nvSpPr>
        <p:spPr>
          <a:xfrm>
            <a:off x="320040" y="363016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Shape 21"/>
          <p:cNvSpPr/>
          <p:nvPr/>
        </p:nvSpPr>
        <p:spPr>
          <a:xfrm>
            <a:off x="749808" y="3648456"/>
            <a:ext cx="3840480" cy="310896"/>
          </a:xfrm>
          <a:prstGeom prst="rect">
            <a:avLst/>
          </a:prstGeom>
          <a:solidFill>
            <a:srgbClr val="FFFFFF"/>
          </a:solidFill>
          <a:ln/>
          <a:effectLst>
            <a:outerShdw blurRad="38100" dist="12700" dir="8100000" algn="bl" rotWithShape="0">
              <a:srgbClr val="000000">
                <a:alpha val="8000"/>
              </a:srgbClr>
            </a:outerShdw>
          </a:effectLst>
        </p:spPr>
      </p:sp>
      <p:sp>
        <p:nvSpPr>
          <p:cNvPr id="24" name="Text 22"/>
          <p:cNvSpPr/>
          <p:nvPr/>
        </p:nvSpPr>
        <p:spPr>
          <a:xfrm>
            <a:off x="822960" y="3648456"/>
            <a:ext cx="3749040" cy="310896"/>
          </a:xfrm>
          <a:prstGeom prst="rect">
            <a:avLst/>
          </a:prstGeom>
          <a:noFill/>
          <a:ln/>
        </p:spPr>
        <p:txBody>
          <a:bodyPr wrap="square" lIns="0" tIns="0" rIns="0" bIns="0" rtlCol="0" anchor="ctr"/>
          <a:lstStyle/>
          <a:p>
            <a:pPr marL="0" indent="0">
              <a:buNone/>
            </a:pPr>
            <a:r>
              <a:rPr lang="en-US" sz="1050" dirty="0">
                <a:solidFill>
                  <a:srgbClr val="1B2A4A"/>
                </a:solidFill>
                <a:latin typeface="Calibri" pitchFamily="34" charset="0"/>
                <a:ea typeface="Calibri" pitchFamily="34" charset="-122"/>
                <a:cs typeface="Calibri" pitchFamily="34" charset="-120"/>
              </a:rPr>
              <a:t>Identify challenges affecting entrepreneurship &amp; innovation among youth &amp; women</a:t>
            </a:r>
            <a:endParaRPr lang="en-US" sz="1050" dirty="0"/>
          </a:p>
        </p:txBody>
      </p:sp>
      <p:sp>
        <p:nvSpPr>
          <p:cNvPr id="25" name="Text 23"/>
          <p:cNvSpPr/>
          <p:nvPr/>
        </p:nvSpPr>
        <p:spPr>
          <a:xfrm>
            <a:off x="4937760" y="969264"/>
            <a:ext cx="3886200" cy="274320"/>
          </a:xfrm>
          <a:prstGeom prst="rect">
            <a:avLst/>
          </a:prstGeom>
          <a:noFill/>
          <a:ln/>
        </p:spPr>
        <p:txBody>
          <a:bodyPr wrap="square" rtlCol="0" anchor="ctr"/>
          <a:lstStyle/>
          <a:p>
            <a:pPr marL="0" indent="0">
              <a:buNone/>
            </a:pPr>
            <a:r>
              <a:rPr lang="en-US" sz="1000" b="1" kern="0" spc="100" dirty="0">
                <a:solidFill>
                  <a:srgbClr val="0D7B7A"/>
                </a:solidFill>
                <a:latin typeface="Calibri" pitchFamily="34" charset="0"/>
                <a:ea typeface="Calibri" pitchFamily="34" charset="-122"/>
                <a:cs typeface="Calibri" pitchFamily="34" charset="-120"/>
              </a:rPr>
              <a:t>RESEARCH QUESTIONS</a:t>
            </a:r>
            <a:endParaRPr lang="en-US" sz="1000" dirty="0"/>
          </a:p>
        </p:txBody>
      </p:sp>
      <p:sp>
        <p:nvSpPr>
          <p:cNvPr id="26" name="Shape 24"/>
          <p:cNvSpPr/>
          <p:nvPr/>
        </p:nvSpPr>
        <p:spPr>
          <a:xfrm>
            <a:off x="4937760" y="1261872"/>
            <a:ext cx="3886200" cy="658368"/>
          </a:xfrm>
          <a:prstGeom prst="rect">
            <a:avLst/>
          </a:prstGeom>
          <a:solidFill>
            <a:srgbClr val="1B2A4A"/>
          </a:solidFill>
          <a:ln/>
          <a:effectLst>
            <a:outerShdw blurRad="50800" dist="25400" dir="8100000" algn="bl" rotWithShape="0">
              <a:srgbClr val="000000">
                <a:alpha val="12000"/>
              </a:srgbClr>
            </a:outerShdw>
          </a:effectLst>
        </p:spPr>
      </p:sp>
      <p:sp>
        <p:nvSpPr>
          <p:cNvPr id="27" name="Text 25"/>
          <p:cNvSpPr/>
          <p:nvPr/>
        </p:nvSpPr>
        <p:spPr>
          <a:xfrm>
            <a:off x="5029200" y="1261872"/>
            <a:ext cx="3703320" cy="65836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Q1: How do entrepreneurship skills influence economic empowerment among youth &amp; women?</a:t>
            </a:r>
            <a:endParaRPr lang="en-US" sz="1050" dirty="0"/>
          </a:p>
        </p:txBody>
      </p:sp>
      <p:sp>
        <p:nvSpPr>
          <p:cNvPr id="28" name="Shape 26"/>
          <p:cNvSpPr/>
          <p:nvPr/>
        </p:nvSpPr>
        <p:spPr>
          <a:xfrm>
            <a:off x="4937760" y="2066544"/>
            <a:ext cx="3886200" cy="658368"/>
          </a:xfrm>
          <a:prstGeom prst="rect">
            <a:avLst/>
          </a:prstGeom>
          <a:solidFill>
            <a:srgbClr val="0D7B7A"/>
          </a:solidFill>
          <a:ln/>
          <a:effectLst>
            <a:outerShdw blurRad="50800" dist="25400" dir="8100000" algn="bl" rotWithShape="0">
              <a:srgbClr val="000000">
                <a:alpha val="12000"/>
              </a:srgbClr>
            </a:outerShdw>
          </a:effectLst>
        </p:spPr>
      </p:sp>
      <p:sp>
        <p:nvSpPr>
          <p:cNvPr id="29" name="Text 27"/>
          <p:cNvSpPr/>
          <p:nvPr/>
        </p:nvSpPr>
        <p:spPr>
          <a:xfrm>
            <a:off x="5029200" y="2066544"/>
            <a:ext cx="3703320" cy="65836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Q2: What role does innovation play in job creation &amp; income generation?</a:t>
            </a:r>
            <a:endParaRPr lang="en-US" sz="1050" dirty="0"/>
          </a:p>
        </p:txBody>
      </p:sp>
      <p:sp>
        <p:nvSpPr>
          <p:cNvPr id="30" name="Shape 28"/>
          <p:cNvSpPr/>
          <p:nvPr/>
        </p:nvSpPr>
        <p:spPr>
          <a:xfrm>
            <a:off x="4937760" y="2871216"/>
            <a:ext cx="3886200" cy="658368"/>
          </a:xfrm>
          <a:prstGeom prst="rect">
            <a:avLst/>
          </a:prstGeom>
          <a:solidFill>
            <a:srgbClr val="1B2A4A"/>
          </a:solidFill>
          <a:ln/>
          <a:effectLst>
            <a:outerShdw blurRad="50800" dist="25400" dir="8100000" algn="bl" rotWithShape="0">
              <a:srgbClr val="000000">
                <a:alpha val="12000"/>
              </a:srgbClr>
            </a:outerShdw>
          </a:effectLst>
        </p:spPr>
      </p:sp>
      <p:sp>
        <p:nvSpPr>
          <p:cNvPr id="31" name="Text 29"/>
          <p:cNvSpPr/>
          <p:nvPr/>
        </p:nvSpPr>
        <p:spPr>
          <a:xfrm>
            <a:off x="5029200" y="2871216"/>
            <a:ext cx="3703320" cy="65836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Q3: How do support systems affect entrepreneurial performance?</a:t>
            </a:r>
            <a:endParaRPr lang="en-US" sz="1050" dirty="0"/>
          </a:p>
        </p:txBody>
      </p:sp>
      <p:sp>
        <p:nvSpPr>
          <p:cNvPr id="32" name="Shape 30"/>
          <p:cNvSpPr/>
          <p:nvPr/>
        </p:nvSpPr>
        <p:spPr>
          <a:xfrm>
            <a:off x="4937760" y="3675888"/>
            <a:ext cx="3886200" cy="658368"/>
          </a:xfrm>
          <a:prstGeom prst="rect">
            <a:avLst/>
          </a:prstGeom>
          <a:solidFill>
            <a:srgbClr val="0D7B7A"/>
          </a:solidFill>
          <a:ln/>
          <a:effectLst>
            <a:outerShdw blurRad="50800" dist="25400" dir="8100000" algn="bl" rotWithShape="0">
              <a:srgbClr val="000000">
                <a:alpha val="12000"/>
              </a:srgbClr>
            </a:outerShdw>
          </a:effectLst>
        </p:spPr>
      </p:sp>
      <p:sp>
        <p:nvSpPr>
          <p:cNvPr id="33" name="Text 31"/>
          <p:cNvSpPr/>
          <p:nvPr/>
        </p:nvSpPr>
        <p:spPr>
          <a:xfrm>
            <a:off x="5029200" y="3675888"/>
            <a:ext cx="3703320" cy="65836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Q4: What challenges hinder entrepreneurship &amp; innovation in Kenya?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Theoretical Framework</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987552"/>
            <a:ext cx="2743200" cy="3520440"/>
          </a:xfrm>
          <a:prstGeom prst="rect">
            <a:avLst/>
          </a:prstGeom>
          <a:solidFill>
            <a:srgbClr val="1B2A4A"/>
          </a:solidFill>
          <a:ln/>
          <a:effectLst>
            <a:outerShdw blurRad="76200" dist="38100" dir="8100000" algn="bl" rotWithShape="0">
              <a:srgbClr val="000000">
                <a:alpha val="15000"/>
              </a:srgbClr>
            </a:outerShdw>
          </a:effectLst>
        </p:spPr>
      </p:sp>
      <p:sp>
        <p:nvSpPr>
          <p:cNvPr id="9" name="Shape 7"/>
          <p:cNvSpPr/>
          <p:nvPr/>
        </p:nvSpPr>
        <p:spPr>
          <a:xfrm>
            <a:off x="1280160" y="1097280"/>
            <a:ext cx="822960" cy="822960"/>
          </a:xfrm>
          <a:prstGeom prst="ellipse">
            <a:avLst/>
          </a:prstGeom>
          <a:solidFill>
            <a:srgbClr val="D4A017"/>
          </a:solidFill>
          <a:ln w="12700">
            <a:solidFill>
              <a:srgbClr val="D4A017"/>
            </a:solidFill>
            <a:prstDash val="solid"/>
          </a:ln>
        </p:spPr>
      </p:sp>
      <p:sp>
        <p:nvSpPr>
          <p:cNvPr id="10" name="Text 8"/>
          <p:cNvSpPr/>
          <p:nvPr/>
        </p:nvSpPr>
        <p:spPr>
          <a:xfrm>
            <a:off x="1280160" y="1097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1" name="Text 9"/>
          <p:cNvSpPr/>
          <p:nvPr/>
        </p:nvSpPr>
        <p:spPr>
          <a:xfrm>
            <a:off x="411480" y="2029968"/>
            <a:ext cx="256032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Human Capital Theory</a:t>
            </a:r>
            <a:endParaRPr lang="en-US" sz="1200" dirty="0"/>
          </a:p>
        </p:txBody>
      </p:sp>
      <p:sp>
        <p:nvSpPr>
          <p:cNvPr id="12" name="Shape 10"/>
          <p:cNvSpPr/>
          <p:nvPr/>
        </p:nvSpPr>
        <p:spPr>
          <a:xfrm>
            <a:off x="548640" y="2651760"/>
            <a:ext cx="2286000" cy="45720"/>
          </a:xfrm>
          <a:prstGeom prst="rect">
            <a:avLst/>
          </a:prstGeom>
          <a:solidFill>
            <a:srgbClr val="D4A017"/>
          </a:solidFill>
          <a:ln/>
        </p:spPr>
      </p:sp>
      <p:sp>
        <p:nvSpPr>
          <p:cNvPr id="13" name="Text 11"/>
          <p:cNvSpPr/>
          <p:nvPr/>
        </p:nvSpPr>
        <p:spPr>
          <a:xfrm>
            <a:off x="429768" y="2743200"/>
            <a:ext cx="2523744" cy="1691640"/>
          </a:xfrm>
          <a:prstGeom prst="rect">
            <a:avLst/>
          </a:prstGeom>
          <a:noFill/>
          <a:ln/>
        </p:spPr>
        <p:txBody>
          <a:bodyPr wrap="square" rtlCol="0" anchor="t"/>
          <a:lstStyle/>
          <a:p>
            <a:pPr marL="0" indent="0" algn="ctr">
              <a:buNone/>
            </a:pPr>
            <a:r>
              <a:rPr lang="en-US" sz="1050" dirty="0">
                <a:solidFill>
                  <a:srgbClr val="D0E8F0"/>
                </a:solidFill>
                <a:latin typeface="Calibri" pitchFamily="34" charset="0"/>
                <a:ea typeface="Calibri" pitchFamily="34" charset="-122"/>
                <a:cs typeface="Calibri" pitchFamily="34" charset="-120"/>
              </a:rPr>
              <a:t>Skills, knowledge &amp; competencies enhance productivity. Entrepreneurship training equips youth &amp; women with financial literacy, critical thinking, and risk management.</a:t>
            </a:r>
            <a:endParaRPr lang="en-US" sz="1050" dirty="0"/>
          </a:p>
        </p:txBody>
      </p:sp>
      <p:sp>
        <p:nvSpPr>
          <p:cNvPr id="14" name="Shape 12"/>
          <p:cNvSpPr/>
          <p:nvPr/>
        </p:nvSpPr>
        <p:spPr>
          <a:xfrm>
            <a:off x="3200400" y="987552"/>
            <a:ext cx="2743200" cy="3520440"/>
          </a:xfrm>
          <a:prstGeom prst="rect">
            <a:avLst/>
          </a:prstGeom>
          <a:solidFill>
            <a:srgbClr val="0D7B7A"/>
          </a:solidFill>
          <a:ln/>
          <a:effectLst>
            <a:outerShdw blurRad="76200" dist="38100" dir="8100000" algn="bl" rotWithShape="0">
              <a:srgbClr val="000000">
                <a:alpha val="15000"/>
              </a:srgbClr>
            </a:outerShdw>
          </a:effectLst>
        </p:spPr>
      </p:sp>
      <p:sp>
        <p:nvSpPr>
          <p:cNvPr id="15" name="Shape 13"/>
          <p:cNvSpPr/>
          <p:nvPr/>
        </p:nvSpPr>
        <p:spPr>
          <a:xfrm>
            <a:off x="4160520" y="1097280"/>
            <a:ext cx="822960" cy="822960"/>
          </a:xfrm>
          <a:prstGeom prst="ellipse">
            <a:avLst/>
          </a:prstGeom>
          <a:solidFill>
            <a:srgbClr val="D4A017"/>
          </a:solidFill>
          <a:ln w="12700">
            <a:solidFill>
              <a:srgbClr val="D4A017"/>
            </a:solidFill>
            <a:prstDash val="solid"/>
          </a:ln>
        </p:spPr>
      </p:sp>
      <p:sp>
        <p:nvSpPr>
          <p:cNvPr id="16" name="Text 14"/>
          <p:cNvSpPr/>
          <p:nvPr/>
        </p:nvSpPr>
        <p:spPr>
          <a:xfrm>
            <a:off x="4160520" y="1097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3291840" y="2029968"/>
            <a:ext cx="256032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Schumpeter's Theory of Innovation</a:t>
            </a:r>
            <a:endParaRPr lang="en-US" sz="1200" dirty="0"/>
          </a:p>
        </p:txBody>
      </p:sp>
      <p:sp>
        <p:nvSpPr>
          <p:cNvPr id="18" name="Shape 16"/>
          <p:cNvSpPr/>
          <p:nvPr/>
        </p:nvSpPr>
        <p:spPr>
          <a:xfrm>
            <a:off x="3429000" y="2651760"/>
            <a:ext cx="2286000" cy="45720"/>
          </a:xfrm>
          <a:prstGeom prst="rect">
            <a:avLst/>
          </a:prstGeom>
          <a:solidFill>
            <a:srgbClr val="D4A017"/>
          </a:solidFill>
          <a:ln/>
        </p:spPr>
      </p:sp>
      <p:sp>
        <p:nvSpPr>
          <p:cNvPr id="19" name="Text 17"/>
          <p:cNvSpPr/>
          <p:nvPr/>
        </p:nvSpPr>
        <p:spPr>
          <a:xfrm>
            <a:off x="3310128" y="2743200"/>
            <a:ext cx="2523744" cy="1691640"/>
          </a:xfrm>
          <a:prstGeom prst="rect">
            <a:avLst/>
          </a:prstGeom>
          <a:noFill/>
          <a:ln/>
        </p:spPr>
        <p:txBody>
          <a:bodyPr wrap="square" rtlCol="0" anchor="t"/>
          <a:lstStyle/>
          <a:p>
            <a:pPr marL="0" indent="0" algn="ctr">
              <a:buNone/>
            </a:pPr>
            <a:r>
              <a:rPr lang="en-US" sz="1050" dirty="0">
                <a:solidFill>
                  <a:srgbClr val="D0E8F0"/>
                </a:solidFill>
                <a:latin typeface="Calibri" pitchFamily="34" charset="0"/>
                <a:ea typeface="Calibri" pitchFamily="34" charset="-122"/>
                <a:cs typeface="Calibri" pitchFamily="34" charset="-120"/>
              </a:rPr>
              <a:t>Entrepreneurs drive economic growth by introducing new products, processes &amp; business models, stimulating job creation, productivity &amp; competitiveness.</a:t>
            </a:r>
            <a:endParaRPr lang="en-US" sz="1050" dirty="0"/>
          </a:p>
        </p:txBody>
      </p:sp>
      <p:sp>
        <p:nvSpPr>
          <p:cNvPr id="20" name="Shape 18"/>
          <p:cNvSpPr/>
          <p:nvPr/>
        </p:nvSpPr>
        <p:spPr>
          <a:xfrm>
            <a:off x="6080760" y="987552"/>
            <a:ext cx="2743200" cy="3520440"/>
          </a:xfrm>
          <a:prstGeom prst="rect">
            <a:avLst/>
          </a:prstGeom>
          <a:solidFill>
            <a:srgbClr val="4A6D8C"/>
          </a:solidFill>
          <a:ln/>
          <a:effectLst>
            <a:outerShdw blurRad="76200" dist="38100" dir="8100000" algn="bl" rotWithShape="0">
              <a:srgbClr val="000000">
                <a:alpha val="15000"/>
              </a:srgbClr>
            </a:outerShdw>
          </a:effectLst>
        </p:spPr>
      </p:sp>
      <p:sp>
        <p:nvSpPr>
          <p:cNvPr id="21" name="Shape 19"/>
          <p:cNvSpPr/>
          <p:nvPr/>
        </p:nvSpPr>
        <p:spPr>
          <a:xfrm>
            <a:off x="7040880" y="1097280"/>
            <a:ext cx="822960" cy="822960"/>
          </a:xfrm>
          <a:prstGeom prst="ellipse">
            <a:avLst/>
          </a:prstGeom>
          <a:solidFill>
            <a:srgbClr val="D4A017"/>
          </a:solidFill>
          <a:ln w="12700">
            <a:solidFill>
              <a:srgbClr val="D4A017"/>
            </a:solidFill>
            <a:prstDash val="solid"/>
          </a:ln>
        </p:spPr>
      </p:sp>
      <p:sp>
        <p:nvSpPr>
          <p:cNvPr id="22" name="Text 20"/>
          <p:cNvSpPr/>
          <p:nvPr/>
        </p:nvSpPr>
        <p:spPr>
          <a:xfrm>
            <a:off x="7040880" y="10972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6172200" y="2029968"/>
            <a:ext cx="256032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Social Capital Theory</a:t>
            </a:r>
            <a:endParaRPr lang="en-US" sz="1200" dirty="0"/>
          </a:p>
        </p:txBody>
      </p:sp>
      <p:sp>
        <p:nvSpPr>
          <p:cNvPr id="24" name="Shape 22"/>
          <p:cNvSpPr/>
          <p:nvPr/>
        </p:nvSpPr>
        <p:spPr>
          <a:xfrm>
            <a:off x="6309360" y="2651760"/>
            <a:ext cx="2286000" cy="45720"/>
          </a:xfrm>
          <a:prstGeom prst="rect">
            <a:avLst/>
          </a:prstGeom>
          <a:solidFill>
            <a:srgbClr val="D4A017"/>
          </a:solidFill>
          <a:ln/>
        </p:spPr>
      </p:sp>
      <p:sp>
        <p:nvSpPr>
          <p:cNvPr id="25" name="Text 23"/>
          <p:cNvSpPr/>
          <p:nvPr/>
        </p:nvSpPr>
        <p:spPr>
          <a:xfrm>
            <a:off x="6190488" y="2743200"/>
            <a:ext cx="2523744" cy="1691640"/>
          </a:xfrm>
          <a:prstGeom prst="rect">
            <a:avLst/>
          </a:prstGeom>
          <a:noFill/>
          <a:ln/>
        </p:spPr>
        <p:txBody>
          <a:bodyPr wrap="square" rtlCol="0" anchor="t"/>
          <a:lstStyle/>
          <a:p>
            <a:pPr marL="0" indent="0" algn="ctr">
              <a:buNone/>
            </a:pPr>
            <a:r>
              <a:rPr lang="en-US" sz="1050" dirty="0">
                <a:solidFill>
                  <a:srgbClr val="D0E8F0"/>
                </a:solidFill>
                <a:latin typeface="Calibri" pitchFamily="34" charset="0"/>
                <a:ea typeface="Calibri" pitchFamily="34" charset="-122"/>
                <a:cs typeface="Calibri" pitchFamily="34" charset="-120"/>
              </a:rPr>
              <a:t>Networks, mentorship &amp; community groups provide access to information, credit &amp; markets, complementing formal training through partnerships &amp; business linkages.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Methodology</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100584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9" name="Shape 7"/>
          <p:cNvSpPr/>
          <p:nvPr/>
        </p:nvSpPr>
        <p:spPr>
          <a:xfrm>
            <a:off x="320040" y="1005840"/>
            <a:ext cx="73152" cy="1005840"/>
          </a:xfrm>
          <a:prstGeom prst="rect">
            <a:avLst/>
          </a:prstGeom>
          <a:solidFill>
            <a:srgbClr val="D4A017"/>
          </a:solidFill>
          <a:ln/>
        </p:spPr>
      </p:sp>
      <p:sp>
        <p:nvSpPr>
          <p:cNvPr id="10" name="Shape 8"/>
          <p:cNvSpPr/>
          <p:nvPr/>
        </p:nvSpPr>
        <p:spPr>
          <a:xfrm>
            <a:off x="393192" y="1005840"/>
            <a:ext cx="822960" cy="1005840"/>
          </a:xfrm>
          <a:prstGeom prst="rect">
            <a:avLst/>
          </a:prstGeom>
          <a:solidFill>
            <a:srgbClr val="1B2A4A"/>
          </a:solidFill>
          <a:ln/>
        </p:spPr>
      </p:sp>
      <p:sp>
        <p:nvSpPr>
          <p:cNvPr id="11" name="Text 9"/>
          <p:cNvSpPr/>
          <p:nvPr/>
        </p:nvSpPr>
        <p:spPr>
          <a:xfrm>
            <a:off x="393192" y="100584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1280160" y="107899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Research Design</a:t>
            </a:r>
            <a:endParaRPr lang="en-US" sz="1000" dirty="0"/>
          </a:p>
        </p:txBody>
      </p:sp>
      <p:sp>
        <p:nvSpPr>
          <p:cNvPr id="13" name="Text 11"/>
          <p:cNvSpPr/>
          <p:nvPr/>
        </p:nvSpPr>
        <p:spPr>
          <a:xfrm>
            <a:off x="1280160" y="141732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Descriptive Survey</a:t>
            </a:r>
            <a:endParaRPr lang="en-US" sz="1250" dirty="0"/>
          </a:p>
        </p:txBody>
      </p:sp>
      <p:sp>
        <p:nvSpPr>
          <p:cNvPr id="14" name="Shape 12"/>
          <p:cNvSpPr/>
          <p:nvPr/>
        </p:nvSpPr>
        <p:spPr>
          <a:xfrm>
            <a:off x="4663440" y="100584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15" name="Shape 13"/>
          <p:cNvSpPr/>
          <p:nvPr/>
        </p:nvSpPr>
        <p:spPr>
          <a:xfrm>
            <a:off x="4663440" y="1005840"/>
            <a:ext cx="73152" cy="1005840"/>
          </a:xfrm>
          <a:prstGeom prst="rect">
            <a:avLst/>
          </a:prstGeom>
          <a:solidFill>
            <a:srgbClr val="D4A017"/>
          </a:solidFill>
          <a:ln/>
        </p:spPr>
      </p:sp>
      <p:sp>
        <p:nvSpPr>
          <p:cNvPr id="16" name="Shape 14"/>
          <p:cNvSpPr/>
          <p:nvPr/>
        </p:nvSpPr>
        <p:spPr>
          <a:xfrm>
            <a:off x="4736592" y="1005840"/>
            <a:ext cx="822960" cy="1005840"/>
          </a:xfrm>
          <a:prstGeom prst="rect">
            <a:avLst/>
          </a:prstGeom>
          <a:solidFill>
            <a:srgbClr val="1B2A4A"/>
          </a:solidFill>
          <a:ln/>
        </p:spPr>
      </p:sp>
      <p:sp>
        <p:nvSpPr>
          <p:cNvPr id="17" name="Text 15"/>
          <p:cNvSpPr/>
          <p:nvPr/>
        </p:nvSpPr>
        <p:spPr>
          <a:xfrm>
            <a:off x="4736592" y="100584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623560" y="107899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Target Population</a:t>
            </a:r>
            <a:endParaRPr lang="en-US" sz="1000" dirty="0"/>
          </a:p>
        </p:txBody>
      </p:sp>
      <p:sp>
        <p:nvSpPr>
          <p:cNvPr id="19" name="Text 17"/>
          <p:cNvSpPr/>
          <p:nvPr/>
        </p:nvSpPr>
        <p:spPr>
          <a:xfrm>
            <a:off x="5623560" y="141732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45 Respondents</a:t>
            </a:r>
            <a:endParaRPr lang="en-US" sz="1250" dirty="0"/>
          </a:p>
        </p:txBody>
      </p:sp>
      <p:sp>
        <p:nvSpPr>
          <p:cNvPr id="20" name="Shape 18"/>
          <p:cNvSpPr/>
          <p:nvPr/>
        </p:nvSpPr>
        <p:spPr>
          <a:xfrm>
            <a:off x="320040" y="219456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21" name="Shape 19"/>
          <p:cNvSpPr/>
          <p:nvPr/>
        </p:nvSpPr>
        <p:spPr>
          <a:xfrm>
            <a:off x="320040" y="2194560"/>
            <a:ext cx="73152" cy="1005840"/>
          </a:xfrm>
          <a:prstGeom prst="rect">
            <a:avLst/>
          </a:prstGeom>
          <a:solidFill>
            <a:srgbClr val="D4A017"/>
          </a:solidFill>
          <a:ln/>
        </p:spPr>
      </p:sp>
      <p:sp>
        <p:nvSpPr>
          <p:cNvPr id="22" name="Shape 20"/>
          <p:cNvSpPr/>
          <p:nvPr/>
        </p:nvSpPr>
        <p:spPr>
          <a:xfrm>
            <a:off x="393192" y="2194560"/>
            <a:ext cx="822960" cy="1005840"/>
          </a:xfrm>
          <a:prstGeom prst="rect">
            <a:avLst/>
          </a:prstGeom>
          <a:solidFill>
            <a:srgbClr val="1B2A4A"/>
          </a:solidFill>
          <a:ln/>
        </p:spPr>
      </p:sp>
      <p:sp>
        <p:nvSpPr>
          <p:cNvPr id="23" name="Text 21"/>
          <p:cNvSpPr/>
          <p:nvPr/>
        </p:nvSpPr>
        <p:spPr>
          <a:xfrm>
            <a:off x="393192" y="219456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1280160" y="226771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Response Rate</a:t>
            </a:r>
            <a:endParaRPr lang="en-US" sz="1000" dirty="0"/>
          </a:p>
        </p:txBody>
      </p:sp>
      <p:sp>
        <p:nvSpPr>
          <p:cNvPr id="25" name="Text 23"/>
          <p:cNvSpPr/>
          <p:nvPr/>
        </p:nvSpPr>
        <p:spPr>
          <a:xfrm>
            <a:off x="1280160" y="260604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87% (n=39)</a:t>
            </a:r>
            <a:endParaRPr lang="en-US" sz="1250" dirty="0"/>
          </a:p>
        </p:txBody>
      </p:sp>
      <p:sp>
        <p:nvSpPr>
          <p:cNvPr id="26" name="Shape 24"/>
          <p:cNvSpPr/>
          <p:nvPr/>
        </p:nvSpPr>
        <p:spPr>
          <a:xfrm>
            <a:off x="4663440" y="219456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27" name="Shape 25"/>
          <p:cNvSpPr/>
          <p:nvPr/>
        </p:nvSpPr>
        <p:spPr>
          <a:xfrm>
            <a:off x="4663440" y="2194560"/>
            <a:ext cx="73152" cy="1005840"/>
          </a:xfrm>
          <a:prstGeom prst="rect">
            <a:avLst/>
          </a:prstGeom>
          <a:solidFill>
            <a:srgbClr val="D4A017"/>
          </a:solidFill>
          <a:ln/>
        </p:spPr>
      </p:sp>
      <p:sp>
        <p:nvSpPr>
          <p:cNvPr id="28" name="Shape 26"/>
          <p:cNvSpPr/>
          <p:nvPr/>
        </p:nvSpPr>
        <p:spPr>
          <a:xfrm>
            <a:off x="4736592" y="2194560"/>
            <a:ext cx="822960" cy="1005840"/>
          </a:xfrm>
          <a:prstGeom prst="rect">
            <a:avLst/>
          </a:prstGeom>
          <a:solidFill>
            <a:srgbClr val="1B2A4A"/>
          </a:solidFill>
          <a:ln/>
        </p:spPr>
      </p:sp>
      <p:sp>
        <p:nvSpPr>
          <p:cNvPr id="29" name="Text 27"/>
          <p:cNvSpPr/>
          <p:nvPr/>
        </p:nvSpPr>
        <p:spPr>
          <a:xfrm>
            <a:off x="4736592" y="219456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5623560" y="226771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Sampling</a:t>
            </a:r>
            <a:endParaRPr lang="en-US" sz="1000" dirty="0"/>
          </a:p>
        </p:txBody>
      </p:sp>
      <p:sp>
        <p:nvSpPr>
          <p:cNvPr id="31" name="Text 29"/>
          <p:cNvSpPr/>
          <p:nvPr/>
        </p:nvSpPr>
        <p:spPr>
          <a:xfrm>
            <a:off x="5623560" y="260604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Census Sampling</a:t>
            </a:r>
            <a:endParaRPr lang="en-US" sz="1250" dirty="0"/>
          </a:p>
        </p:txBody>
      </p:sp>
      <p:sp>
        <p:nvSpPr>
          <p:cNvPr id="32" name="Shape 30"/>
          <p:cNvSpPr/>
          <p:nvPr/>
        </p:nvSpPr>
        <p:spPr>
          <a:xfrm>
            <a:off x="320040" y="338328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33" name="Shape 31"/>
          <p:cNvSpPr/>
          <p:nvPr/>
        </p:nvSpPr>
        <p:spPr>
          <a:xfrm>
            <a:off x="320040" y="3383280"/>
            <a:ext cx="73152" cy="1005840"/>
          </a:xfrm>
          <a:prstGeom prst="rect">
            <a:avLst/>
          </a:prstGeom>
          <a:solidFill>
            <a:srgbClr val="D4A017"/>
          </a:solidFill>
          <a:ln/>
        </p:spPr>
      </p:sp>
      <p:sp>
        <p:nvSpPr>
          <p:cNvPr id="34" name="Shape 32"/>
          <p:cNvSpPr/>
          <p:nvPr/>
        </p:nvSpPr>
        <p:spPr>
          <a:xfrm>
            <a:off x="393192" y="3383280"/>
            <a:ext cx="822960" cy="1005840"/>
          </a:xfrm>
          <a:prstGeom prst="rect">
            <a:avLst/>
          </a:prstGeom>
          <a:solidFill>
            <a:srgbClr val="1B2A4A"/>
          </a:solidFill>
          <a:ln/>
        </p:spPr>
      </p:sp>
      <p:sp>
        <p:nvSpPr>
          <p:cNvPr id="35" name="Text 33"/>
          <p:cNvSpPr/>
          <p:nvPr/>
        </p:nvSpPr>
        <p:spPr>
          <a:xfrm>
            <a:off x="393192" y="338328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1280160" y="345643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Instrument</a:t>
            </a:r>
            <a:endParaRPr lang="en-US" sz="1000" dirty="0"/>
          </a:p>
        </p:txBody>
      </p:sp>
      <p:sp>
        <p:nvSpPr>
          <p:cNvPr id="37" name="Text 35"/>
          <p:cNvSpPr/>
          <p:nvPr/>
        </p:nvSpPr>
        <p:spPr>
          <a:xfrm>
            <a:off x="1280160" y="379476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Structured Questionnaire (Google Forms)</a:t>
            </a:r>
            <a:endParaRPr lang="en-US" sz="1250" dirty="0"/>
          </a:p>
        </p:txBody>
      </p:sp>
      <p:sp>
        <p:nvSpPr>
          <p:cNvPr id="38" name="Shape 36"/>
          <p:cNvSpPr/>
          <p:nvPr/>
        </p:nvSpPr>
        <p:spPr>
          <a:xfrm>
            <a:off x="4663440" y="3383280"/>
            <a:ext cx="4160520" cy="1005840"/>
          </a:xfrm>
          <a:prstGeom prst="rect">
            <a:avLst/>
          </a:prstGeom>
          <a:solidFill>
            <a:srgbClr val="FFFFFF"/>
          </a:solidFill>
          <a:ln/>
          <a:effectLst>
            <a:outerShdw blurRad="50800" dist="25400" dir="8100000" algn="bl" rotWithShape="0">
              <a:srgbClr val="000000">
                <a:alpha val="10000"/>
              </a:srgbClr>
            </a:outerShdw>
          </a:effectLst>
        </p:spPr>
      </p:sp>
      <p:sp>
        <p:nvSpPr>
          <p:cNvPr id="39" name="Shape 37"/>
          <p:cNvSpPr/>
          <p:nvPr/>
        </p:nvSpPr>
        <p:spPr>
          <a:xfrm>
            <a:off x="4663440" y="3383280"/>
            <a:ext cx="73152" cy="1005840"/>
          </a:xfrm>
          <a:prstGeom prst="rect">
            <a:avLst/>
          </a:prstGeom>
          <a:solidFill>
            <a:srgbClr val="D4A017"/>
          </a:solidFill>
          <a:ln/>
        </p:spPr>
      </p:sp>
      <p:sp>
        <p:nvSpPr>
          <p:cNvPr id="40" name="Shape 38"/>
          <p:cNvSpPr/>
          <p:nvPr/>
        </p:nvSpPr>
        <p:spPr>
          <a:xfrm>
            <a:off x="4736592" y="3383280"/>
            <a:ext cx="822960" cy="1005840"/>
          </a:xfrm>
          <a:prstGeom prst="rect">
            <a:avLst/>
          </a:prstGeom>
          <a:solidFill>
            <a:srgbClr val="1B2A4A"/>
          </a:solidFill>
          <a:ln/>
        </p:spPr>
      </p:sp>
      <p:sp>
        <p:nvSpPr>
          <p:cNvPr id="41" name="Text 39"/>
          <p:cNvSpPr/>
          <p:nvPr/>
        </p:nvSpPr>
        <p:spPr>
          <a:xfrm>
            <a:off x="4736592" y="3383280"/>
            <a:ext cx="822960" cy="10058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2" name="Text 40"/>
          <p:cNvSpPr/>
          <p:nvPr/>
        </p:nvSpPr>
        <p:spPr>
          <a:xfrm>
            <a:off x="5623560" y="3456432"/>
            <a:ext cx="3108960" cy="320040"/>
          </a:xfrm>
          <a:prstGeom prst="rect">
            <a:avLst/>
          </a:prstGeom>
          <a:noFill/>
          <a:ln/>
        </p:spPr>
        <p:txBody>
          <a:bodyPr wrap="square" lIns="0" tIns="0" rIns="0" bIns="0" rtlCol="0" anchor="ctr"/>
          <a:lstStyle/>
          <a:p>
            <a:pPr marL="0" indent="0">
              <a:buNone/>
            </a:pPr>
            <a:r>
              <a:rPr lang="en-US" sz="1000" b="1" dirty="0">
                <a:solidFill>
                  <a:srgbClr val="0D7B7A"/>
                </a:solidFill>
                <a:latin typeface="Calibri" pitchFamily="34" charset="0"/>
                <a:ea typeface="Calibri" pitchFamily="34" charset="-122"/>
                <a:cs typeface="Calibri" pitchFamily="34" charset="-120"/>
              </a:rPr>
              <a:t>Analysis Tool</a:t>
            </a:r>
            <a:endParaRPr lang="en-US" sz="1000" dirty="0"/>
          </a:p>
        </p:txBody>
      </p:sp>
      <p:sp>
        <p:nvSpPr>
          <p:cNvPr id="43" name="Text 41"/>
          <p:cNvSpPr/>
          <p:nvPr/>
        </p:nvSpPr>
        <p:spPr>
          <a:xfrm>
            <a:off x="5623560" y="3794760"/>
            <a:ext cx="3108960" cy="50292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Microsoft Excel (%, Mean, Frequency)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Finding 1: Entrepreneurship Training &amp; Skills</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1005840"/>
            <a:ext cx="2743200" cy="1417320"/>
          </a:xfrm>
          <a:prstGeom prst="rect">
            <a:avLst/>
          </a:prstGeom>
          <a:solidFill>
            <a:srgbClr val="0D7B7A"/>
          </a:solidFill>
          <a:ln/>
          <a:effectLst>
            <a:outerShdw blurRad="63500" dist="25400" dir="8100000" algn="bl" rotWithShape="0">
              <a:srgbClr val="000000">
                <a:alpha val="15000"/>
              </a:srgbClr>
            </a:outerShdw>
          </a:effectLst>
        </p:spPr>
      </p:sp>
      <p:sp>
        <p:nvSpPr>
          <p:cNvPr id="9" name="Text 7"/>
          <p:cNvSpPr/>
          <p:nvPr/>
        </p:nvSpPr>
        <p:spPr>
          <a:xfrm>
            <a:off x="320040" y="1078992"/>
            <a:ext cx="2743200" cy="779526"/>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83%</a:t>
            </a:r>
            <a:endParaRPr lang="en-US" sz="3600" dirty="0"/>
          </a:p>
        </p:txBody>
      </p:sp>
      <p:sp>
        <p:nvSpPr>
          <p:cNvPr id="10" name="Text 8"/>
          <p:cNvSpPr/>
          <p:nvPr/>
        </p:nvSpPr>
        <p:spPr>
          <a:xfrm>
            <a:off x="320040" y="1785366"/>
            <a:ext cx="2743200" cy="595274"/>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Received relevant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entrepreneurship training</a:t>
            </a:r>
            <a:endParaRPr lang="en-US" sz="1100" dirty="0"/>
          </a:p>
        </p:txBody>
      </p:sp>
      <p:sp>
        <p:nvSpPr>
          <p:cNvPr id="11" name="Shape 9"/>
          <p:cNvSpPr/>
          <p:nvPr/>
        </p:nvSpPr>
        <p:spPr>
          <a:xfrm>
            <a:off x="3200400" y="1005840"/>
            <a:ext cx="2743200" cy="1417320"/>
          </a:xfrm>
          <a:prstGeom prst="rect">
            <a:avLst/>
          </a:prstGeom>
          <a:solidFill>
            <a:srgbClr val="D4A017"/>
          </a:solidFill>
          <a:ln/>
          <a:effectLst>
            <a:outerShdw blurRad="63500" dist="25400" dir="8100000" algn="bl" rotWithShape="0">
              <a:srgbClr val="000000">
                <a:alpha val="15000"/>
              </a:srgbClr>
            </a:outerShdw>
          </a:effectLst>
        </p:spPr>
      </p:sp>
      <p:sp>
        <p:nvSpPr>
          <p:cNvPr id="12" name="Text 10"/>
          <p:cNvSpPr/>
          <p:nvPr/>
        </p:nvSpPr>
        <p:spPr>
          <a:xfrm>
            <a:off x="3200400" y="1078992"/>
            <a:ext cx="2743200" cy="779526"/>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83%</a:t>
            </a:r>
            <a:endParaRPr lang="en-US" sz="3600" dirty="0"/>
          </a:p>
        </p:txBody>
      </p:sp>
      <p:sp>
        <p:nvSpPr>
          <p:cNvPr id="13" name="Text 11"/>
          <p:cNvSpPr/>
          <p:nvPr/>
        </p:nvSpPr>
        <p:spPr>
          <a:xfrm>
            <a:off x="3200400" y="1785366"/>
            <a:ext cx="2743200" cy="595274"/>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Skills enabled them to</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start their businesses</a:t>
            </a:r>
            <a:endParaRPr lang="en-US" sz="1100" dirty="0"/>
          </a:p>
        </p:txBody>
      </p:sp>
      <p:sp>
        <p:nvSpPr>
          <p:cNvPr id="14" name="Shape 12"/>
          <p:cNvSpPr/>
          <p:nvPr/>
        </p:nvSpPr>
        <p:spPr>
          <a:xfrm>
            <a:off x="6080760" y="1005840"/>
            <a:ext cx="2743200" cy="1417320"/>
          </a:xfrm>
          <a:prstGeom prst="rect">
            <a:avLst/>
          </a:prstGeom>
          <a:solidFill>
            <a:srgbClr val="0D7B7A"/>
          </a:solidFill>
          <a:ln/>
          <a:effectLst>
            <a:outerShdw blurRad="63500" dist="25400" dir="8100000" algn="bl" rotWithShape="0">
              <a:srgbClr val="000000">
                <a:alpha val="15000"/>
              </a:srgbClr>
            </a:outerShdw>
          </a:effectLst>
        </p:spPr>
      </p:sp>
      <p:sp>
        <p:nvSpPr>
          <p:cNvPr id="15" name="Text 13"/>
          <p:cNvSpPr/>
          <p:nvPr/>
        </p:nvSpPr>
        <p:spPr>
          <a:xfrm>
            <a:off x="6080760" y="1078992"/>
            <a:ext cx="2743200" cy="779526"/>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83%</a:t>
            </a:r>
            <a:endParaRPr lang="en-US" sz="3600" dirty="0"/>
          </a:p>
        </p:txBody>
      </p:sp>
      <p:sp>
        <p:nvSpPr>
          <p:cNvPr id="16" name="Text 14"/>
          <p:cNvSpPr/>
          <p:nvPr/>
        </p:nvSpPr>
        <p:spPr>
          <a:xfrm>
            <a:off x="6080760" y="1785366"/>
            <a:ext cx="2743200" cy="595274"/>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Skills contributed to</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job creation</a:t>
            </a:r>
            <a:endParaRPr lang="en-US" sz="1100" dirty="0"/>
          </a:p>
        </p:txBody>
      </p:sp>
      <p:sp>
        <p:nvSpPr>
          <p:cNvPr id="17" name="Shape 15"/>
          <p:cNvSpPr/>
          <p:nvPr/>
        </p:nvSpPr>
        <p:spPr>
          <a:xfrm>
            <a:off x="320040" y="2578608"/>
            <a:ext cx="8503920" cy="1920240"/>
          </a:xfrm>
          <a:prstGeom prst="rect">
            <a:avLst/>
          </a:prstGeom>
          <a:solidFill>
            <a:srgbClr val="FFFFFF"/>
          </a:solidFill>
          <a:ln/>
          <a:effectLst>
            <a:outerShdw blurRad="63500" dist="25400" dir="8100000" algn="bl" rotWithShape="0">
              <a:srgbClr val="000000">
                <a:alpha val="10000"/>
              </a:srgbClr>
            </a:outerShdw>
          </a:effectLst>
        </p:spPr>
      </p:sp>
      <p:sp>
        <p:nvSpPr>
          <p:cNvPr id="18" name="Shape 16"/>
          <p:cNvSpPr/>
          <p:nvPr/>
        </p:nvSpPr>
        <p:spPr>
          <a:xfrm>
            <a:off x="320040" y="2578608"/>
            <a:ext cx="73152" cy="1920240"/>
          </a:xfrm>
          <a:prstGeom prst="rect">
            <a:avLst/>
          </a:prstGeom>
          <a:solidFill>
            <a:srgbClr val="1B2A4A"/>
          </a:solidFill>
          <a:ln/>
        </p:spPr>
      </p:sp>
      <p:sp>
        <p:nvSpPr>
          <p:cNvPr id="19" name="Text 17"/>
          <p:cNvSpPr/>
          <p:nvPr/>
        </p:nvSpPr>
        <p:spPr>
          <a:xfrm>
            <a:off x="502920" y="2633472"/>
            <a:ext cx="8229600" cy="32004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Key Insight</a:t>
            </a:r>
            <a:endParaRPr lang="en-US" sz="1200" dirty="0"/>
          </a:p>
        </p:txBody>
      </p:sp>
      <p:sp>
        <p:nvSpPr>
          <p:cNvPr id="20" name="Text 18"/>
          <p:cNvSpPr/>
          <p:nvPr/>
        </p:nvSpPr>
        <p:spPr>
          <a:xfrm>
            <a:off x="502920" y="2971800"/>
            <a:ext cx="8229600" cy="1463040"/>
          </a:xfrm>
          <a:prstGeom prst="rect">
            <a:avLst/>
          </a:prstGeom>
          <a:noFill/>
          <a:ln/>
        </p:spPr>
        <p:txBody>
          <a:bodyPr wrap="square" rtlCol="0" anchor="t"/>
          <a:lstStyle/>
          <a:p>
            <a:pPr marL="0" indent="0">
              <a:buNone/>
            </a:pPr>
            <a:r>
              <a:rPr lang="en-US" sz="1150" dirty="0">
                <a:solidFill>
                  <a:srgbClr val="1B2A4A"/>
                </a:solidFill>
                <a:latin typeface="Calibri" pitchFamily="34" charset="0"/>
                <a:ea typeface="Calibri" pitchFamily="34" charset="-122"/>
                <a:cs typeface="Calibri" pitchFamily="34" charset="-120"/>
              </a:rPr>
              <a:t>Entrepreneurship training plays a significant role in equipping youth and women with the competencies needed to initiate and sustain business ventures. The high rates of acknowledged job creation suggest entrepreneurship functions not only as self-employment but also as a broader contributor to employment generation — creating multiplier effects at the community level.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Finding 2: Innovation &amp; Business Performance</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Text 6"/>
          <p:cNvSpPr/>
          <p:nvPr/>
        </p:nvSpPr>
        <p:spPr>
          <a:xfrm>
            <a:off x="320040" y="969264"/>
            <a:ext cx="8503920" cy="256032"/>
          </a:xfrm>
          <a:prstGeom prst="rect">
            <a:avLst/>
          </a:prstGeom>
          <a:noFill/>
          <a:ln/>
        </p:spPr>
        <p:txBody>
          <a:bodyPr wrap="square" rtlCol="0" anchor="ctr"/>
          <a:lstStyle/>
          <a:p>
            <a:pPr marL="0" indent="0">
              <a:buNone/>
            </a:pPr>
            <a:r>
              <a:rPr lang="en-US" sz="1000" i="1" dirty="0">
                <a:solidFill>
                  <a:srgbClr val="6B7A90"/>
                </a:solidFill>
                <a:latin typeface="Calibri" pitchFamily="34" charset="0"/>
                <a:ea typeface="Calibri" pitchFamily="34" charset="-122"/>
                <a:cs typeface="Calibri" pitchFamily="34" charset="-120"/>
              </a:rPr>
              <a:t>Agreement rates among respondents (n=39)</a:t>
            </a:r>
            <a:endParaRPr lang="en-US" sz="1000" dirty="0"/>
          </a:p>
        </p:txBody>
      </p:sp>
      <p:sp>
        <p:nvSpPr>
          <p:cNvPr id="9" name="Text 7"/>
          <p:cNvSpPr/>
          <p:nvPr/>
        </p:nvSpPr>
        <p:spPr>
          <a:xfrm>
            <a:off x="320040" y="1298448"/>
            <a:ext cx="3657600" cy="658368"/>
          </a:xfrm>
          <a:prstGeom prst="rect">
            <a:avLst/>
          </a:prstGeom>
          <a:noFill/>
          <a:ln/>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Apply innovative ideas in business</a:t>
            </a:r>
            <a:endParaRPr lang="en-US" sz="1100" dirty="0"/>
          </a:p>
        </p:txBody>
      </p:sp>
      <p:sp>
        <p:nvSpPr>
          <p:cNvPr id="10" name="Shape 8"/>
          <p:cNvSpPr/>
          <p:nvPr/>
        </p:nvSpPr>
        <p:spPr>
          <a:xfrm>
            <a:off x="4069080" y="1426464"/>
            <a:ext cx="6217920" cy="384048"/>
          </a:xfrm>
          <a:prstGeom prst="rect">
            <a:avLst/>
          </a:prstGeom>
          <a:solidFill>
            <a:srgbClr val="E2E8F0"/>
          </a:solidFill>
          <a:ln/>
        </p:spPr>
      </p:sp>
      <p:sp>
        <p:nvSpPr>
          <p:cNvPr id="11" name="Shape 9"/>
          <p:cNvSpPr/>
          <p:nvPr/>
        </p:nvSpPr>
        <p:spPr>
          <a:xfrm>
            <a:off x="4069080" y="1426464"/>
            <a:ext cx="5533949" cy="384048"/>
          </a:xfrm>
          <a:prstGeom prst="rect">
            <a:avLst/>
          </a:prstGeom>
          <a:solidFill>
            <a:srgbClr val="1B2A4A"/>
          </a:solidFill>
          <a:ln/>
        </p:spPr>
      </p:sp>
      <p:sp>
        <p:nvSpPr>
          <p:cNvPr id="12" name="Text 10"/>
          <p:cNvSpPr/>
          <p:nvPr/>
        </p:nvSpPr>
        <p:spPr>
          <a:xfrm>
            <a:off x="9676181" y="1426464"/>
            <a:ext cx="502920" cy="38404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89%</a:t>
            </a:r>
            <a:endParaRPr lang="en-US" sz="1200" dirty="0"/>
          </a:p>
        </p:txBody>
      </p:sp>
      <p:sp>
        <p:nvSpPr>
          <p:cNvPr id="13" name="Text 11"/>
          <p:cNvSpPr/>
          <p:nvPr/>
        </p:nvSpPr>
        <p:spPr>
          <a:xfrm>
            <a:off x="320040" y="2103120"/>
            <a:ext cx="3657600" cy="658368"/>
          </a:xfrm>
          <a:prstGeom prst="rect">
            <a:avLst/>
          </a:prstGeom>
          <a:noFill/>
          <a:ln/>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Innovation improved product/service quality</a:t>
            </a:r>
            <a:endParaRPr lang="en-US" sz="1100" dirty="0"/>
          </a:p>
        </p:txBody>
      </p:sp>
      <p:sp>
        <p:nvSpPr>
          <p:cNvPr id="14" name="Shape 12"/>
          <p:cNvSpPr/>
          <p:nvPr/>
        </p:nvSpPr>
        <p:spPr>
          <a:xfrm>
            <a:off x="4069080" y="2231136"/>
            <a:ext cx="6217920" cy="384048"/>
          </a:xfrm>
          <a:prstGeom prst="rect">
            <a:avLst/>
          </a:prstGeom>
          <a:solidFill>
            <a:srgbClr val="E2E8F0"/>
          </a:solidFill>
          <a:ln/>
        </p:spPr>
      </p:sp>
      <p:sp>
        <p:nvSpPr>
          <p:cNvPr id="15" name="Shape 13"/>
          <p:cNvSpPr/>
          <p:nvPr/>
        </p:nvSpPr>
        <p:spPr>
          <a:xfrm>
            <a:off x="4069080" y="2231136"/>
            <a:ext cx="5409590" cy="384048"/>
          </a:xfrm>
          <a:prstGeom prst="rect">
            <a:avLst/>
          </a:prstGeom>
          <a:solidFill>
            <a:srgbClr val="0D7B7A"/>
          </a:solidFill>
          <a:ln/>
        </p:spPr>
      </p:sp>
      <p:sp>
        <p:nvSpPr>
          <p:cNvPr id="16" name="Text 14"/>
          <p:cNvSpPr/>
          <p:nvPr/>
        </p:nvSpPr>
        <p:spPr>
          <a:xfrm>
            <a:off x="9551822" y="2231136"/>
            <a:ext cx="502920" cy="384048"/>
          </a:xfrm>
          <a:prstGeom prst="rect">
            <a:avLst/>
          </a:prstGeom>
          <a:noFill/>
          <a:ln/>
        </p:spPr>
        <p:txBody>
          <a:bodyPr wrap="square" lIns="0" tIns="0" rIns="0" bIns="0" rtlCol="0" anchor="ctr"/>
          <a:lstStyle/>
          <a:p>
            <a:pPr marL="0" indent="0">
              <a:buNone/>
            </a:pPr>
            <a:r>
              <a:rPr lang="en-US" sz="1200" b="1" dirty="0">
                <a:solidFill>
                  <a:srgbClr val="0D7B7A"/>
                </a:solidFill>
                <a:latin typeface="Calibri" pitchFamily="34" charset="0"/>
                <a:ea typeface="Calibri" pitchFamily="34" charset="-122"/>
                <a:cs typeface="Calibri" pitchFamily="34" charset="-120"/>
              </a:rPr>
              <a:t>87%</a:t>
            </a:r>
            <a:endParaRPr lang="en-US" sz="1200" dirty="0"/>
          </a:p>
        </p:txBody>
      </p:sp>
      <p:sp>
        <p:nvSpPr>
          <p:cNvPr id="17" name="Text 15"/>
          <p:cNvSpPr/>
          <p:nvPr/>
        </p:nvSpPr>
        <p:spPr>
          <a:xfrm>
            <a:off x="320040" y="2907792"/>
            <a:ext cx="3657600" cy="658368"/>
          </a:xfrm>
          <a:prstGeom prst="rect">
            <a:avLst/>
          </a:prstGeom>
          <a:noFill/>
          <a:ln/>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Innovation increased market competitiveness</a:t>
            </a:r>
            <a:endParaRPr lang="en-US" sz="1100" dirty="0"/>
          </a:p>
        </p:txBody>
      </p:sp>
      <p:sp>
        <p:nvSpPr>
          <p:cNvPr id="18" name="Shape 16"/>
          <p:cNvSpPr/>
          <p:nvPr/>
        </p:nvSpPr>
        <p:spPr>
          <a:xfrm>
            <a:off x="4069080" y="3035808"/>
            <a:ext cx="6217920" cy="384048"/>
          </a:xfrm>
          <a:prstGeom prst="rect">
            <a:avLst/>
          </a:prstGeom>
          <a:solidFill>
            <a:srgbClr val="E2E8F0"/>
          </a:solidFill>
          <a:ln/>
        </p:spPr>
      </p:sp>
      <p:sp>
        <p:nvSpPr>
          <p:cNvPr id="19" name="Shape 17"/>
          <p:cNvSpPr/>
          <p:nvPr/>
        </p:nvSpPr>
        <p:spPr>
          <a:xfrm>
            <a:off x="4069080" y="3035808"/>
            <a:ext cx="5098694" cy="384048"/>
          </a:xfrm>
          <a:prstGeom prst="rect">
            <a:avLst/>
          </a:prstGeom>
          <a:solidFill>
            <a:srgbClr val="4A6D8C"/>
          </a:solidFill>
          <a:ln/>
        </p:spPr>
      </p:sp>
      <p:sp>
        <p:nvSpPr>
          <p:cNvPr id="20" name="Text 18"/>
          <p:cNvSpPr/>
          <p:nvPr/>
        </p:nvSpPr>
        <p:spPr>
          <a:xfrm>
            <a:off x="9240926" y="3035808"/>
            <a:ext cx="502920" cy="384048"/>
          </a:xfrm>
          <a:prstGeom prst="rect">
            <a:avLst/>
          </a:prstGeom>
          <a:noFill/>
          <a:ln/>
        </p:spPr>
        <p:txBody>
          <a:bodyPr wrap="square" lIns="0" tIns="0" rIns="0" bIns="0" rtlCol="0" anchor="ctr"/>
          <a:lstStyle/>
          <a:p>
            <a:pPr marL="0" indent="0">
              <a:buNone/>
            </a:pPr>
            <a:r>
              <a:rPr lang="en-US" sz="1200" b="1" dirty="0">
                <a:solidFill>
                  <a:srgbClr val="4A6D8C"/>
                </a:solidFill>
                <a:latin typeface="Calibri" pitchFamily="34" charset="0"/>
                <a:ea typeface="Calibri" pitchFamily="34" charset="-122"/>
                <a:cs typeface="Calibri" pitchFamily="34" charset="-120"/>
              </a:rPr>
              <a:t>82%</a:t>
            </a:r>
            <a:endParaRPr lang="en-US" sz="1200" dirty="0"/>
          </a:p>
        </p:txBody>
      </p:sp>
      <p:sp>
        <p:nvSpPr>
          <p:cNvPr id="21" name="Text 19"/>
          <p:cNvSpPr/>
          <p:nvPr/>
        </p:nvSpPr>
        <p:spPr>
          <a:xfrm>
            <a:off x="320040" y="3712464"/>
            <a:ext cx="3657600" cy="658368"/>
          </a:xfrm>
          <a:prstGeom prst="rect">
            <a:avLst/>
          </a:prstGeom>
          <a:noFill/>
          <a:ln/>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Innovation contributed to sustainable income</a:t>
            </a:r>
            <a:endParaRPr lang="en-US" sz="1100" dirty="0"/>
          </a:p>
        </p:txBody>
      </p:sp>
      <p:sp>
        <p:nvSpPr>
          <p:cNvPr id="22" name="Shape 20"/>
          <p:cNvSpPr/>
          <p:nvPr/>
        </p:nvSpPr>
        <p:spPr>
          <a:xfrm>
            <a:off x="4069080" y="3840480"/>
            <a:ext cx="6217920" cy="384048"/>
          </a:xfrm>
          <a:prstGeom prst="rect">
            <a:avLst/>
          </a:prstGeom>
          <a:solidFill>
            <a:srgbClr val="E2E8F0"/>
          </a:solidFill>
          <a:ln/>
        </p:spPr>
      </p:sp>
      <p:sp>
        <p:nvSpPr>
          <p:cNvPr id="23" name="Shape 21"/>
          <p:cNvSpPr/>
          <p:nvPr/>
        </p:nvSpPr>
        <p:spPr>
          <a:xfrm>
            <a:off x="4069080" y="3840480"/>
            <a:ext cx="4725619" cy="384048"/>
          </a:xfrm>
          <a:prstGeom prst="rect">
            <a:avLst/>
          </a:prstGeom>
          <a:solidFill>
            <a:srgbClr val="D4A017"/>
          </a:solidFill>
          <a:ln/>
        </p:spPr>
      </p:sp>
      <p:sp>
        <p:nvSpPr>
          <p:cNvPr id="24" name="Text 22"/>
          <p:cNvSpPr/>
          <p:nvPr/>
        </p:nvSpPr>
        <p:spPr>
          <a:xfrm>
            <a:off x="8867851" y="3840480"/>
            <a:ext cx="502920" cy="384048"/>
          </a:xfrm>
          <a:prstGeom prst="rect">
            <a:avLst/>
          </a:prstGeom>
          <a:noFill/>
          <a:ln/>
        </p:spPr>
        <p:txBody>
          <a:bodyPr wrap="square" lIns="0" tIns="0" rIns="0" bIns="0" rtlCol="0" anchor="ctr"/>
          <a:lstStyle/>
          <a:p>
            <a:pPr marL="0" indent="0">
              <a:buNone/>
            </a:pPr>
            <a:r>
              <a:rPr lang="en-US" sz="1200" b="1" dirty="0">
                <a:solidFill>
                  <a:srgbClr val="D4A017"/>
                </a:solidFill>
                <a:latin typeface="Calibri" pitchFamily="34" charset="0"/>
                <a:ea typeface="Calibri" pitchFamily="34" charset="-122"/>
                <a:cs typeface="Calibri" pitchFamily="34" charset="-120"/>
              </a:rPr>
              <a:t>76%</a:t>
            </a:r>
            <a:endParaRPr lang="en-US" sz="1200" dirty="0"/>
          </a:p>
        </p:txBody>
      </p:sp>
      <p:sp>
        <p:nvSpPr>
          <p:cNvPr id="25" name="Shape 23"/>
          <p:cNvSpPr/>
          <p:nvPr/>
        </p:nvSpPr>
        <p:spPr>
          <a:xfrm>
            <a:off x="320040" y="4526280"/>
            <a:ext cx="8503920" cy="137160"/>
          </a:xfrm>
          <a:prstGeom prst="rect">
            <a:avLst/>
          </a:prstGeom>
          <a:solidFill>
            <a:srgbClr val="F4F7FA"/>
          </a:solidFill>
          <a:ln/>
        </p:spPr>
      </p:sp>
      <p:sp>
        <p:nvSpPr>
          <p:cNvPr id="26" name="Text 24"/>
          <p:cNvSpPr/>
          <p:nvPr/>
        </p:nvSpPr>
        <p:spPr>
          <a:xfrm>
            <a:off x="320040" y="4553712"/>
            <a:ext cx="8503920" cy="201168"/>
          </a:xfrm>
          <a:prstGeom prst="rect">
            <a:avLst/>
          </a:prstGeom>
          <a:noFill/>
          <a:ln/>
        </p:spPr>
        <p:txBody>
          <a:bodyPr wrap="square" rtlCol="0" anchor="ctr"/>
          <a:lstStyle/>
          <a:p>
            <a:pPr marL="0" indent="0">
              <a:buNone/>
            </a:pPr>
            <a:r>
              <a:rPr lang="en-US" sz="1000" i="1" dirty="0">
                <a:solidFill>
                  <a:srgbClr val="6B7A90"/>
                </a:solidFill>
                <a:latin typeface="Calibri" pitchFamily="34" charset="0"/>
                <a:ea typeface="Calibri" pitchFamily="34" charset="-122"/>
                <a:cs typeface="Calibri" pitchFamily="34" charset="-120"/>
              </a:rPr>
              <a:t>Innovation enhances product differentiation, customer satisfaction, and market positioning — ultimately strengthening income sustainability among youth and women entrepreneurs.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Finding 3: Economic Empowerment Outcomes</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987552"/>
            <a:ext cx="2743200" cy="1828800"/>
          </a:xfrm>
          <a:prstGeom prst="rect">
            <a:avLst/>
          </a:prstGeom>
          <a:solidFill>
            <a:srgbClr val="1B2A4A"/>
          </a:solidFill>
          <a:ln/>
          <a:effectLst>
            <a:outerShdw blurRad="76200" dist="38100" dir="8100000" algn="bl" rotWithShape="0">
              <a:srgbClr val="000000">
                <a:alpha val="15000"/>
              </a:srgbClr>
            </a:outerShdw>
          </a:effectLst>
        </p:spPr>
      </p:sp>
      <p:sp>
        <p:nvSpPr>
          <p:cNvPr id="9" name="Text 7"/>
          <p:cNvSpPr/>
          <p:nvPr/>
        </p:nvSpPr>
        <p:spPr>
          <a:xfrm>
            <a:off x="320040" y="1051560"/>
            <a:ext cx="274320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84%</a:t>
            </a:r>
            <a:endParaRPr lang="en-US" sz="4800" dirty="0"/>
          </a:p>
        </p:txBody>
      </p:sp>
      <p:sp>
        <p:nvSpPr>
          <p:cNvPr id="10" name="Text 8"/>
          <p:cNvSpPr/>
          <p:nvPr/>
        </p:nvSpPr>
        <p:spPr>
          <a:xfrm>
            <a:off x="411480" y="1993392"/>
            <a:ext cx="2560320" cy="749808"/>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Improved economic well-being through entrepreneurship</a:t>
            </a:r>
            <a:endParaRPr lang="en-US" sz="1100" dirty="0"/>
          </a:p>
        </p:txBody>
      </p:sp>
      <p:sp>
        <p:nvSpPr>
          <p:cNvPr id="11" name="Shape 9"/>
          <p:cNvSpPr/>
          <p:nvPr/>
        </p:nvSpPr>
        <p:spPr>
          <a:xfrm>
            <a:off x="3200400" y="987552"/>
            <a:ext cx="2743200" cy="1828800"/>
          </a:xfrm>
          <a:prstGeom prst="rect">
            <a:avLst/>
          </a:prstGeom>
          <a:solidFill>
            <a:srgbClr val="0D7B7A"/>
          </a:solidFill>
          <a:ln/>
          <a:effectLst>
            <a:outerShdw blurRad="76200" dist="38100" dir="8100000" algn="bl" rotWithShape="0">
              <a:srgbClr val="000000">
                <a:alpha val="15000"/>
              </a:srgbClr>
            </a:outerShdw>
          </a:effectLst>
        </p:spPr>
      </p:sp>
      <p:sp>
        <p:nvSpPr>
          <p:cNvPr id="12" name="Text 10"/>
          <p:cNvSpPr/>
          <p:nvPr/>
        </p:nvSpPr>
        <p:spPr>
          <a:xfrm>
            <a:off x="3200400" y="1051560"/>
            <a:ext cx="274320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74%</a:t>
            </a:r>
            <a:endParaRPr lang="en-US" sz="4800" dirty="0"/>
          </a:p>
        </p:txBody>
      </p:sp>
      <p:sp>
        <p:nvSpPr>
          <p:cNvPr id="13" name="Text 11"/>
          <p:cNvSpPr/>
          <p:nvPr/>
        </p:nvSpPr>
        <p:spPr>
          <a:xfrm>
            <a:off x="3291840" y="1993392"/>
            <a:ext cx="2560320" cy="749808"/>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Businesses contribute to sustainable livelihoods</a:t>
            </a:r>
            <a:endParaRPr lang="en-US" sz="1100" dirty="0"/>
          </a:p>
        </p:txBody>
      </p:sp>
      <p:sp>
        <p:nvSpPr>
          <p:cNvPr id="14" name="Shape 12"/>
          <p:cNvSpPr/>
          <p:nvPr/>
        </p:nvSpPr>
        <p:spPr>
          <a:xfrm>
            <a:off x="6080760" y="987552"/>
            <a:ext cx="2743200" cy="1828800"/>
          </a:xfrm>
          <a:prstGeom prst="rect">
            <a:avLst/>
          </a:prstGeom>
          <a:solidFill>
            <a:srgbClr val="D4A017"/>
          </a:solidFill>
          <a:ln/>
          <a:effectLst>
            <a:outerShdw blurRad="76200" dist="38100" dir="8100000" algn="bl" rotWithShape="0">
              <a:srgbClr val="000000">
                <a:alpha val="15000"/>
              </a:srgbClr>
            </a:outerShdw>
          </a:effectLst>
        </p:spPr>
      </p:sp>
      <p:sp>
        <p:nvSpPr>
          <p:cNvPr id="15" name="Text 13"/>
          <p:cNvSpPr/>
          <p:nvPr/>
        </p:nvSpPr>
        <p:spPr>
          <a:xfrm>
            <a:off x="6080760" y="1051560"/>
            <a:ext cx="274320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79%</a:t>
            </a:r>
            <a:endParaRPr lang="en-US" sz="4800" dirty="0"/>
          </a:p>
        </p:txBody>
      </p:sp>
      <p:sp>
        <p:nvSpPr>
          <p:cNvPr id="16" name="Text 14"/>
          <p:cNvSpPr/>
          <p:nvPr/>
        </p:nvSpPr>
        <p:spPr>
          <a:xfrm>
            <a:off x="6172200" y="1993392"/>
            <a:ext cx="2560320" cy="749808"/>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Improved future economic prospects</a:t>
            </a:r>
            <a:endParaRPr lang="en-US" sz="1100" dirty="0"/>
          </a:p>
        </p:txBody>
      </p:sp>
      <p:sp>
        <p:nvSpPr>
          <p:cNvPr id="17" name="Text 15"/>
          <p:cNvSpPr/>
          <p:nvPr/>
        </p:nvSpPr>
        <p:spPr>
          <a:xfrm>
            <a:off x="320040" y="2971800"/>
            <a:ext cx="8503920" cy="274320"/>
          </a:xfrm>
          <a:prstGeom prst="rect">
            <a:avLst/>
          </a:prstGeom>
          <a:noFill/>
          <a:ln/>
        </p:spPr>
        <p:txBody>
          <a:bodyPr wrap="square" rtlCol="0" anchor="ctr"/>
          <a:lstStyle/>
          <a:p>
            <a:pPr marL="0" indent="0">
              <a:buNone/>
            </a:pPr>
            <a:r>
              <a:rPr lang="en-US" sz="1000" b="1" kern="0" spc="100" dirty="0">
                <a:solidFill>
                  <a:srgbClr val="0D7B7A"/>
                </a:solidFill>
                <a:latin typeface="Calibri" pitchFamily="34" charset="0"/>
                <a:ea typeface="Calibri" pitchFamily="34" charset="-122"/>
                <a:cs typeface="Calibri" pitchFamily="34" charset="-120"/>
              </a:rPr>
              <a:t>ENTREPRENEURSHIP &amp; INNOVATION CONTRIBUTE TO:</a:t>
            </a:r>
            <a:endParaRPr lang="en-US" sz="1000" dirty="0"/>
          </a:p>
        </p:txBody>
      </p:sp>
      <p:sp>
        <p:nvSpPr>
          <p:cNvPr id="18" name="Shape 16"/>
          <p:cNvSpPr/>
          <p:nvPr/>
        </p:nvSpPr>
        <p:spPr>
          <a:xfrm>
            <a:off x="320040" y="3291840"/>
            <a:ext cx="2011680" cy="594360"/>
          </a:xfrm>
          <a:prstGeom prst="rect">
            <a:avLst/>
          </a:prstGeom>
          <a:solidFill>
            <a:srgbClr val="FFFFFF"/>
          </a:solidFill>
          <a:ln/>
          <a:effectLst>
            <a:outerShdw blurRad="38100" dist="12700" dir="8100000" algn="bl" rotWithShape="0">
              <a:srgbClr val="000000">
                <a:alpha val="8000"/>
              </a:srgbClr>
            </a:outerShdw>
          </a:effectLst>
        </p:spPr>
      </p:sp>
      <p:sp>
        <p:nvSpPr>
          <p:cNvPr id="19" name="Shape 17"/>
          <p:cNvSpPr/>
          <p:nvPr/>
        </p:nvSpPr>
        <p:spPr>
          <a:xfrm>
            <a:off x="320040" y="3291840"/>
            <a:ext cx="64008" cy="594360"/>
          </a:xfrm>
          <a:prstGeom prst="rect">
            <a:avLst/>
          </a:prstGeom>
          <a:solidFill>
            <a:srgbClr val="0D7B7A"/>
          </a:solidFill>
          <a:ln/>
        </p:spPr>
      </p:sp>
      <p:sp>
        <p:nvSpPr>
          <p:cNvPr id="20" name="Text 18"/>
          <p:cNvSpPr/>
          <p:nvPr/>
        </p:nvSpPr>
        <p:spPr>
          <a:xfrm>
            <a:off x="457200" y="3291840"/>
            <a:ext cx="1828800" cy="594360"/>
          </a:xfrm>
          <a:prstGeom prst="rect">
            <a:avLst/>
          </a:prstGeom>
          <a:noFill/>
          <a:ln/>
        </p:spPr>
        <p:txBody>
          <a:bodyPr wrap="square" rtlCol="0" anchor="ctr"/>
          <a:lstStyle/>
          <a:p>
            <a:pPr marL="0" indent="0">
              <a:buNone/>
            </a:pPr>
            <a:r>
              <a:rPr lang="en-US" sz="1050" dirty="0">
                <a:solidFill>
                  <a:srgbClr val="1B2A4A"/>
                </a:solidFill>
                <a:latin typeface="Calibri" pitchFamily="34" charset="0"/>
                <a:ea typeface="Calibri" pitchFamily="34" charset="-122"/>
                <a:cs typeface="Calibri" pitchFamily="34" charset="-120"/>
              </a:rPr>
              <a:t>Increased income</a:t>
            </a:r>
            <a:endParaRPr lang="en-US" sz="1050" dirty="0"/>
          </a:p>
        </p:txBody>
      </p:sp>
      <p:sp>
        <p:nvSpPr>
          <p:cNvPr id="21" name="Shape 19"/>
          <p:cNvSpPr/>
          <p:nvPr/>
        </p:nvSpPr>
        <p:spPr>
          <a:xfrm>
            <a:off x="2468880" y="3291840"/>
            <a:ext cx="2011680" cy="594360"/>
          </a:xfrm>
          <a:prstGeom prst="rect">
            <a:avLst/>
          </a:prstGeom>
          <a:solidFill>
            <a:srgbClr val="FFFFFF"/>
          </a:solidFill>
          <a:ln/>
          <a:effectLst>
            <a:outerShdw blurRad="38100" dist="12700" dir="8100000" algn="bl" rotWithShape="0">
              <a:srgbClr val="000000">
                <a:alpha val="8000"/>
              </a:srgbClr>
            </a:outerShdw>
          </a:effectLst>
        </p:spPr>
      </p:sp>
      <p:sp>
        <p:nvSpPr>
          <p:cNvPr id="22" name="Shape 20"/>
          <p:cNvSpPr/>
          <p:nvPr/>
        </p:nvSpPr>
        <p:spPr>
          <a:xfrm>
            <a:off x="2468880" y="3291840"/>
            <a:ext cx="64008" cy="594360"/>
          </a:xfrm>
          <a:prstGeom prst="rect">
            <a:avLst/>
          </a:prstGeom>
          <a:solidFill>
            <a:srgbClr val="0D7B7A"/>
          </a:solidFill>
          <a:ln/>
        </p:spPr>
      </p:sp>
      <p:sp>
        <p:nvSpPr>
          <p:cNvPr id="23" name="Text 21"/>
          <p:cNvSpPr/>
          <p:nvPr/>
        </p:nvSpPr>
        <p:spPr>
          <a:xfrm>
            <a:off x="2606040" y="3291840"/>
            <a:ext cx="1828800" cy="594360"/>
          </a:xfrm>
          <a:prstGeom prst="rect">
            <a:avLst/>
          </a:prstGeom>
          <a:noFill/>
          <a:ln/>
        </p:spPr>
        <p:txBody>
          <a:bodyPr wrap="square" rtlCol="0" anchor="ctr"/>
          <a:lstStyle/>
          <a:p>
            <a:pPr marL="0" indent="0">
              <a:buNone/>
            </a:pPr>
            <a:r>
              <a:rPr lang="en-US" sz="1050" dirty="0">
                <a:solidFill>
                  <a:srgbClr val="1B2A4A"/>
                </a:solidFill>
                <a:latin typeface="Calibri" pitchFamily="34" charset="0"/>
                <a:ea typeface="Calibri" pitchFamily="34" charset="-122"/>
                <a:cs typeface="Calibri" pitchFamily="34" charset="-120"/>
              </a:rPr>
              <a:t>Financial independence</a:t>
            </a:r>
            <a:endParaRPr lang="en-US" sz="1050" dirty="0"/>
          </a:p>
        </p:txBody>
      </p:sp>
      <p:sp>
        <p:nvSpPr>
          <p:cNvPr id="24" name="Shape 22"/>
          <p:cNvSpPr/>
          <p:nvPr/>
        </p:nvSpPr>
        <p:spPr>
          <a:xfrm>
            <a:off x="4617720" y="3291840"/>
            <a:ext cx="2011680" cy="594360"/>
          </a:xfrm>
          <a:prstGeom prst="rect">
            <a:avLst/>
          </a:prstGeom>
          <a:solidFill>
            <a:srgbClr val="FFFFFF"/>
          </a:solidFill>
          <a:ln/>
          <a:effectLst>
            <a:outerShdw blurRad="38100" dist="12700" dir="8100000" algn="bl" rotWithShape="0">
              <a:srgbClr val="000000">
                <a:alpha val="8000"/>
              </a:srgbClr>
            </a:outerShdw>
          </a:effectLst>
        </p:spPr>
      </p:sp>
      <p:sp>
        <p:nvSpPr>
          <p:cNvPr id="25" name="Shape 23"/>
          <p:cNvSpPr/>
          <p:nvPr/>
        </p:nvSpPr>
        <p:spPr>
          <a:xfrm>
            <a:off x="4617720" y="3291840"/>
            <a:ext cx="64008" cy="594360"/>
          </a:xfrm>
          <a:prstGeom prst="rect">
            <a:avLst/>
          </a:prstGeom>
          <a:solidFill>
            <a:srgbClr val="0D7B7A"/>
          </a:solidFill>
          <a:ln/>
        </p:spPr>
      </p:sp>
      <p:sp>
        <p:nvSpPr>
          <p:cNvPr id="26" name="Text 24"/>
          <p:cNvSpPr/>
          <p:nvPr/>
        </p:nvSpPr>
        <p:spPr>
          <a:xfrm>
            <a:off x="4754880" y="3291840"/>
            <a:ext cx="1828800" cy="594360"/>
          </a:xfrm>
          <a:prstGeom prst="rect">
            <a:avLst/>
          </a:prstGeom>
          <a:noFill/>
          <a:ln/>
        </p:spPr>
        <p:txBody>
          <a:bodyPr wrap="square" rtlCol="0" anchor="ctr"/>
          <a:lstStyle/>
          <a:p>
            <a:pPr marL="0" indent="0">
              <a:buNone/>
            </a:pPr>
            <a:r>
              <a:rPr lang="en-US" sz="1050" dirty="0">
                <a:solidFill>
                  <a:srgbClr val="1B2A4A"/>
                </a:solidFill>
                <a:latin typeface="Calibri" pitchFamily="34" charset="0"/>
                <a:ea typeface="Calibri" pitchFamily="34" charset="-122"/>
                <a:cs typeface="Calibri" pitchFamily="34" charset="-120"/>
              </a:rPr>
              <a:t>Improved living standards</a:t>
            </a:r>
            <a:endParaRPr lang="en-US" sz="1050" dirty="0"/>
          </a:p>
        </p:txBody>
      </p:sp>
      <p:sp>
        <p:nvSpPr>
          <p:cNvPr id="27" name="Shape 25"/>
          <p:cNvSpPr/>
          <p:nvPr/>
        </p:nvSpPr>
        <p:spPr>
          <a:xfrm>
            <a:off x="6766560" y="3291840"/>
            <a:ext cx="2011680" cy="594360"/>
          </a:xfrm>
          <a:prstGeom prst="rect">
            <a:avLst/>
          </a:prstGeom>
          <a:solidFill>
            <a:srgbClr val="FFFFFF"/>
          </a:solidFill>
          <a:ln/>
          <a:effectLst>
            <a:outerShdw blurRad="38100" dist="12700" dir="8100000" algn="bl" rotWithShape="0">
              <a:srgbClr val="000000">
                <a:alpha val="8000"/>
              </a:srgbClr>
            </a:outerShdw>
          </a:effectLst>
        </p:spPr>
      </p:sp>
      <p:sp>
        <p:nvSpPr>
          <p:cNvPr id="28" name="Shape 26"/>
          <p:cNvSpPr/>
          <p:nvPr/>
        </p:nvSpPr>
        <p:spPr>
          <a:xfrm>
            <a:off x="6766560" y="3291840"/>
            <a:ext cx="64008" cy="594360"/>
          </a:xfrm>
          <a:prstGeom prst="rect">
            <a:avLst/>
          </a:prstGeom>
          <a:solidFill>
            <a:srgbClr val="0D7B7A"/>
          </a:solidFill>
          <a:ln/>
        </p:spPr>
      </p:sp>
      <p:sp>
        <p:nvSpPr>
          <p:cNvPr id="29" name="Text 27"/>
          <p:cNvSpPr/>
          <p:nvPr/>
        </p:nvSpPr>
        <p:spPr>
          <a:xfrm>
            <a:off x="6903720" y="3291840"/>
            <a:ext cx="1828800" cy="594360"/>
          </a:xfrm>
          <a:prstGeom prst="rect">
            <a:avLst/>
          </a:prstGeom>
          <a:noFill/>
          <a:ln/>
        </p:spPr>
        <p:txBody>
          <a:bodyPr wrap="square" rtlCol="0" anchor="ctr"/>
          <a:lstStyle/>
          <a:p>
            <a:pPr marL="0" indent="0">
              <a:buNone/>
            </a:pPr>
            <a:r>
              <a:rPr lang="en-US" sz="1050" dirty="0">
                <a:solidFill>
                  <a:srgbClr val="1B2A4A"/>
                </a:solidFill>
                <a:latin typeface="Calibri" pitchFamily="34" charset="0"/>
                <a:ea typeface="Calibri" pitchFamily="34" charset="-122"/>
                <a:cs typeface="Calibri" pitchFamily="34" charset="-120"/>
              </a:rPr>
              <a:t>Enhanced confidence &amp; decision-making power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Challenges Affecting Entrepreneurship &amp; Innovation</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987552"/>
            <a:ext cx="4160520" cy="1664208"/>
          </a:xfrm>
          <a:prstGeom prst="rect">
            <a:avLst/>
          </a:prstGeom>
          <a:solidFill>
            <a:srgbClr val="FFFFFF"/>
          </a:solidFill>
          <a:ln/>
          <a:effectLst>
            <a:outerShdw blurRad="63500" dist="25400" dir="8100000" algn="bl" rotWithShape="0">
              <a:srgbClr val="000000">
                <a:alpha val="10000"/>
              </a:srgbClr>
            </a:outerShdw>
          </a:effectLst>
        </p:spPr>
      </p:sp>
      <p:sp>
        <p:nvSpPr>
          <p:cNvPr id="9" name="Shape 7"/>
          <p:cNvSpPr/>
          <p:nvPr/>
        </p:nvSpPr>
        <p:spPr>
          <a:xfrm>
            <a:off x="320040" y="987552"/>
            <a:ext cx="822960" cy="1664208"/>
          </a:xfrm>
          <a:prstGeom prst="rect">
            <a:avLst/>
          </a:prstGeom>
          <a:solidFill>
            <a:srgbClr val="1B2A4A"/>
          </a:solidFill>
          <a:ln/>
        </p:spPr>
      </p:sp>
      <p:sp>
        <p:nvSpPr>
          <p:cNvPr id="10" name="Text 8"/>
          <p:cNvSpPr/>
          <p:nvPr/>
        </p:nvSpPr>
        <p:spPr>
          <a:xfrm>
            <a:off x="320040" y="987552"/>
            <a:ext cx="822960" cy="166420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11" name="Text 9"/>
          <p:cNvSpPr/>
          <p:nvPr/>
        </p:nvSpPr>
        <p:spPr>
          <a:xfrm>
            <a:off x="1234440" y="1060704"/>
            <a:ext cx="3154680" cy="4114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Limited Access to Finance</a:t>
            </a:r>
            <a:endParaRPr lang="en-US" sz="1200" dirty="0"/>
          </a:p>
        </p:txBody>
      </p:sp>
      <p:sp>
        <p:nvSpPr>
          <p:cNvPr id="12" name="Text 10"/>
          <p:cNvSpPr/>
          <p:nvPr/>
        </p:nvSpPr>
        <p:spPr>
          <a:xfrm>
            <a:off x="1234440" y="1490472"/>
            <a:ext cx="3154680" cy="1078992"/>
          </a:xfrm>
          <a:prstGeom prst="rect">
            <a:avLst/>
          </a:prstGeom>
          <a:noFill/>
          <a:ln/>
        </p:spPr>
        <p:txBody>
          <a:bodyPr wrap="square" rtlCol="0" anchor="t"/>
          <a:lstStyle/>
          <a:p>
            <a:pPr marL="0" indent="0">
              <a:buNone/>
            </a:pPr>
            <a:r>
              <a:rPr lang="en-US" sz="1050" dirty="0">
                <a:solidFill>
                  <a:srgbClr val="1B2A4A"/>
                </a:solidFill>
                <a:latin typeface="Calibri" pitchFamily="34" charset="0"/>
                <a:ea typeface="Calibri" pitchFamily="34" charset="-122"/>
                <a:cs typeface="Calibri" pitchFamily="34" charset="-120"/>
              </a:rPr>
              <a:t>Lack of affordable credit, collateral requirements, and gender-biased lending practices restrict business startup and growth.</a:t>
            </a:r>
            <a:endParaRPr lang="en-US" sz="1050" dirty="0"/>
          </a:p>
        </p:txBody>
      </p:sp>
      <p:sp>
        <p:nvSpPr>
          <p:cNvPr id="13" name="Shape 11"/>
          <p:cNvSpPr/>
          <p:nvPr/>
        </p:nvSpPr>
        <p:spPr>
          <a:xfrm>
            <a:off x="4663440" y="987552"/>
            <a:ext cx="4160520" cy="1664208"/>
          </a:xfrm>
          <a:prstGeom prst="rect">
            <a:avLst/>
          </a:prstGeom>
          <a:solidFill>
            <a:srgbClr val="FFFFFF"/>
          </a:solidFill>
          <a:ln/>
          <a:effectLst>
            <a:outerShdw blurRad="63500" dist="25400" dir="8100000" algn="bl" rotWithShape="0">
              <a:srgbClr val="000000">
                <a:alpha val="10000"/>
              </a:srgbClr>
            </a:outerShdw>
          </a:effectLst>
        </p:spPr>
      </p:sp>
      <p:sp>
        <p:nvSpPr>
          <p:cNvPr id="14" name="Shape 12"/>
          <p:cNvSpPr/>
          <p:nvPr/>
        </p:nvSpPr>
        <p:spPr>
          <a:xfrm>
            <a:off x="4663440" y="987552"/>
            <a:ext cx="822960" cy="1664208"/>
          </a:xfrm>
          <a:prstGeom prst="rect">
            <a:avLst/>
          </a:prstGeom>
          <a:solidFill>
            <a:srgbClr val="0D7B7A"/>
          </a:solidFill>
          <a:ln/>
        </p:spPr>
      </p:sp>
      <p:sp>
        <p:nvSpPr>
          <p:cNvPr id="15" name="Text 13"/>
          <p:cNvSpPr/>
          <p:nvPr/>
        </p:nvSpPr>
        <p:spPr>
          <a:xfrm>
            <a:off x="4663440" y="987552"/>
            <a:ext cx="822960" cy="166420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16" name="Text 14"/>
          <p:cNvSpPr/>
          <p:nvPr/>
        </p:nvSpPr>
        <p:spPr>
          <a:xfrm>
            <a:off x="5577840" y="1060704"/>
            <a:ext cx="3154680" cy="4114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Inadequate Training &amp; Mentorship</a:t>
            </a:r>
            <a:endParaRPr lang="en-US" sz="1200" dirty="0"/>
          </a:p>
        </p:txBody>
      </p:sp>
      <p:sp>
        <p:nvSpPr>
          <p:cNvPr id="17" name="Text 15"/>
          <p:cNvSpPr/>
          <p:nvPr/>
        </p:nvSpPr>
        <p:spPr>
          <a:xfrm>
            <a:off x="5577840" y="1490472"/>
            <a:ext cx="3154680" cy="1078992"/>
          </a:xfrm>
          <a:prstGeom prst="rect">
            <a:avLst/>
          </a:prstGeom>
          <a:noFill/>
          <a:ln/>
        </p:spPr>
        <p:txBody>
          <a:bodyPr wrap="square" rtlCol="0" anchor="t"/>
          <a:lstStyle/>
          <a:p>
            <a:pPr marL="0" indent="0">
              <a:buNone/>
            </a:pPr>
            <a:r>
              <a:rPr lang="en-US" sz="1050" dirty="0">
                <a:solidFill>
                  <a:srgbClr val="1B2A4A"/>
                </a:solidFill>
                <a:latin typeface="Calibri" pitchFamily="34" charset="0"/>
                <a:ea typeface="Calibri" pitchFamily="34" charset="-122"/>
                <a:cs typeface="Calibri" pitchFamily="34" charset="-120"/>
              </a:rPr>
              <a:t>Gaps between TVET curricula and real-world enterprise needs; insufficient post-training support structures.</a:t>
            </a:r>
            <a:endParaRPr lang="en-US" sz="1050" dirty="0"/>
          </a:p>
        </p:txBody>
      </p:sp>
      <p:sp>
        <p:nvSpPr>
          <p:cNvPr id="18" name="Shape 16"/>
          <p:cNvSpPr/>
          <p:nvPr/>
        </p:nvSpPr>
        <p:spPr>
          <a:xfrm>
            <a:off x="320040" y="2798064"/>
            <a:ext cx="4160520" cy="1664208"/>
          </a:xfrm>
          <a:prstGeom prst="rect">
            <a:avLst/>
          </a:prstGeom>
          <a:solidFill>
            <a:srgbClr val="FFFFFF"/>
          </a:solidFill>
          <a:ln/>
          <a:effectLst>
            <a:outerShdw blurRad="63500" dist="25400" dir="8100000" algn="bl" rotWithShape="0">
              <a:srgbClr val="000000">
                <a:alpha val="10000"/>
              </a:srgbClr>
            </a:outerShdw>
          </a:effectLst>
        </p:spPr>
      </p:sp>
      <p:sp>
        <p:nvSpPr>
          <p:cNvPr id="19" name="Shape 17"/>
          <p:cNvSpPr/>
          <p:nvPr/>
        </p:nvSpPr>
        <p:spPr>
          <a:xfrm>
            <a:off x="320040" y="2798064"/>
            <a:ext cx="822960" cy="1664208"/>
          </a:xfrm>
          <a:prstGeom prst="rect">
            <a:avLst/>
          </a:prstGeom>
          <a:solidFill>
            <a:srgbClr val="4A6D8C"/>
          </a:solidFill>
          <a:ln/>
        </p:spPr>
      </p:sp>
      <p:sp>
        <p:nvSpPr>
          <p:cNvPr id="20" name="Text 18"/>
          <p:cNvSpPr/>
          <p:nvPr/>
        </p:nvSpPr>
        <p:spPr>
          <a:xfrm>
            <a:off x="320040" y="2798064"/>
            <a:ext cx="822960" cy="166420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21" name="Text 19"/>
          <p:cNvSpPr/>
          <p:nvPr/>
        </p:nvSpPr>
        <p:spPr>
          <a:xfrm>
            <a:off x="1234440" y="2871216"/>
            <a:ext cx="3154680" cy="4114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Policy &amp; Regulatory Barriers</a:t>
            </a:r>
            <a:endParaRPr lang="en-US" sz="1200" dirty="0"/>
          </a:p>
        </p:txBody>
      </p:sp>
      <p:sp>
        <p:nvSpPr>
          <p:cNvPr id="22" name="Text 20"/>
          <p:cNvSpPr/>
          <p:nvPr/>
        </p:nvSpPr>
        <p:spPr>
          <a:xfrm>
            <a:off x="1234440" y="3300984"/>
            <a:ext cx="3154680" cy="1078992"/>
          </a:xfrm>
          <a:prstGeom prst="rect">
            <a:avLst/>
          </a:prstGeom>
          <a:noFill/>
          <a:ln/>
        </p:spPr>
        <p:txBody>
          <a:bodyPr wrap="square" rtlCol="0" anchor="t"/>
          <a:lstStyle/>
          <a:p>
            <a:pPr marL="0" indent="0">
              <a:buNone/>
            </a:pPr>
            <a:r>
              <a:rPr lang="en-US" sz="1050" dirty="0">
                <a:solidFill>
                  <a:srgbClr val="1B2A4A"/>
                </a:solidFill>
                <a:latin typeface="Calibri" pitchFamily="34" charset="0"/>
                <a:ea typeface="Calibri" pitchFamily="34" charset="-122"/>
                <a:cs typeface="Calibri" pitchFamily="34" charset="-120"/>
              </a:rPr>
              <a:t>Complex business registration, high taxes, and restrictive regulations disproportionately affect informal entrepreneurs.</a:t>
            </a:r>
            <a:endParaRPr lang="en-US" sz="1050" dirty="0"/>
          </a:p>
        </p:txBody>
      </p:sp>
      <p:sp>
        <p:nvSpPr>
          <p:cNvPr id="23" name="Shape 21"/>
          <p:cNvSpPr/>
          <p:nvPr/>
        </p:nvSpPr>
        <p:spPr>
          <a:xfrm>
            <a:off x="4663440" y="2798064"/>
            <a:ext cx="4160520" cy="1664208"/>
          </a:xfrm>
          <a:prstGeom prst="rect">
            <a:avLst/>
          </a:prstGeom>
          <a:solidFill>
            <a:srgbClr val="FFFFFF"/>
          </a:solidFill>
          <a:ln/>
          <a:effectLst>
            <a:outerShdw blurRad="63500" dist="25400" dir="8100000" algn="bl" rotWithShape="0">
              <a:srgbClr val="000000">
                <a:alpha val="10000"/>
              </a:srgbClr>
            </a:outerShdw>
          </a:effectLst>
        </p:spPr>
      </p:sp>
      <p:sp>
        <p:nvSpPr>
          <p:cNvPr id="24" name="Shape 22"/>
          <p:cNvSpPr/>
          <p:nvPr/>
        </p:nvSpPr>
        <p:spPr>
          <a:xfrm>
            <a:off x="4663440" y="2798064"/>
            <a:ext cx="822960" cy="1664208"/>
          </a:xfrm>
          <a:prstGeom prst="rect">
            <a:avLst/>
          </a:prstGeom>
          <a:solidFill>
            <a:srgbClr val="D4A017"/>
          </a:solidFill>
          <a:ln/>
        </p:spPr>
      </p:sp>
      <p:sp>
        <p:nvSpPr>
          <p:cNvPr id="25" name="Text 23"/>
          <p:cNvSpPr/>
          <p:nvPr/>
        </p:nvSpPr>
        <p:spPr>
          <a:xfrm>
            <a:off x="4663440" y="2798064"/>
            <a:ext cx="822960" cy="166420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04</a:t>
            </a:r>
            <a:endParaRPr lang="en-US" sz="2600" dirty="0"/>
          </a:p>
        </p:txBody>
      </p:sp>
      <p:sp>
        <p:nvSpPr>
          <p:cNvPr id="26" name="Text 24"/>
          <p:cNvSpPr/>
          <p:nvPr/>
        </p:nvSpPr>
        <p:spPr>
          <a:xfrm>
            <a:off x="5577840" y="2871216"/>
            <a:ext cx="3154680" cy="4114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Limited Market Access &amp; Competition</a:t>
            </a:r>
            <a:endParaRPr lang="en-US" sz="1200" dirty="0"/>
          </a:p>
        </p:txBody>
      </p:sp>
      <p:sp>
        <p:nvSpPr>
          <p:cNvPr id="27" name="Text 25"/>
          <p:cNvSpPr/>
          <p:nvPr/>
        </p:nvSpPr>
        <p:spPr>
          <a:xfrm>
            <a:off x="5577840" y="3300984"/>
            <a:ext cx="3154680" cy="1078992"/>
          </a:xfrm>
          <a:prstGeom prst="rect">
            <a:avLst/>
          </a:prstGeom>
          <a:noFill/>
          <a:ln/>
        </p:spPr>
        <p:txBody>
          <a:bodyPr wrap="square" rtlCol="0" anchor="t"/>
          <a:lstStyle/>
          <a:p>
            <a:pPr marL="0" indent="0">
              <a:buNone/>
            </a:pPr>
            <a:r>
              <a:rPr lang="en-US" sz="1050" dirty="0">
                <a:solidFill>
                  <a:srgbClr val="1B2A4A"/>
                </a:solidFill>
                <a:latin typeface="Calibri" pitchFamily="34" charset="0"/>
                <a:ea typeface="Calibri" pitchFamily="34" charset="-122"/>
                <a:cs typeface="Calibri" pitchFamily="34" charset="-120"/>
              </a:rPr>
              <a:t>High competition, restricted market linkages, and limited digital adoption hinder scalability and profitability.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B7A"/>
          </a:solidFill>
          <a:ln/>
        </p:spPr>
      </p:sp>
      <p:sp>
        <p:nvSpPr>
          <p:cNvPr id="3" name="Shape 1"/>
          <p:cNvSpPr/>
          <p:nvPr/>
        </p:nvSpPr>
        <p:spPr>
          <a:xfrm>
            <a:off x="0" y="4800600"/>
            <a:ext cx="9144000" cy="342900"/>
          </a:xfrm>
          <a:prstGeom prst="rect">
            <a:avLst/>
          </a:prstGeom>
          <a:solidFill>
            <a:srgbClr val="1B2A4A"/>
          </a:solidFill>
          <a:ln/>
        </p:spPr>
      </p:sp>
      <p:sp>
        <p:nvSpPr>
          <p:cNvPr id="4" name="Shape 2"/>
          <p:cNvSpPr/>
          <p:nvPr/>
        </p:nvSpPr>
        <p:spPr>
          <a:xfrm>
            <a:off x="320040" y="182880"/>
            <a:ext cx="8503920" cy="685800"/>
          </a:xfrm>
          <a:prstGeom prst="rect">
            <a:avLst/>
          </a:prstGeom>
          <a:solidFill>
            <a:srgbClr val="1B2A4A"/>
          </a:solidFill>
          <a:ln w="12700">
            <a:solidFill>
              <a:srgbClr val="1B2A4A"/>
            </a:solidFill>
            <a:prstDash val="solid"/>
          </a:ln>
        </p:spPr>
      </p:sp>
      <p:sp>
        <p:nvSpPr>
          <p:cNvPr id="5" name="Text 3"/>
          <p:cNvSpPr/>
          <p:nvPr/>
        </p:nvSpPr>
        <p:spPr>
          <a:xfrm>
            <a:off x="411480" y="182880"/>
            <a:ext cx="832104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Recommendations</a:t>
            </a:r>
            <a:endParaRPr lang="en-US" sz="2200" dirty="0"/>
          </a:p>
        </p:txBody>
      </p:sp>
      <p:sp>
        <p:nvSpPr>
          <p:cNvPr id="6" name="Shape 4"/>
          <p:cNvSpPr/>
          <p:nvPr/>
        </p:nvSpPr>
        <p:spPr>
          <a:xfrm>
            <a:off x="320040" y="182880"/>
            <a:ext cx="91440" cy="685800"/>
          </a:xfrm>
          <a:prstGeom prst="rect">
            <a:avLst/>
          </a:prstGeom>
          <a:solidFill>
            <a:srgbClr val="D4A017"/>
          </a:solidFill>
          <a:ln/>
        </p:spPr>
      </p:sp>
      <p:sp>
        <p:nvSpPr>
          <p:cNvPr id="7" name="Text 5"/>
          <p:cNvSpPr/>
          <p:nvPr/>
        </p:nvSpPr>
        <p:spPr>
          <a:xfrm>
            <a:off x="274320" y="4809744"/>
            <a:ext cx="8595360" cy="30175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Joyce Wambui Kibote | Mathenge Technical &amp; Training Institute | Feb 2026</a:t>
            </a:r>
            <a:endParaRPr lang="en-US" sz="900" dirty="0"/>
          </a:p>
        </p:txBody>
      </p:sp>
      <p:sp>
        <p:nvSpPr>
          <p:cNvPr id="8" name="Shape 6"/>
          <p:cNvSpPr/>
          <p:nvPr/>
        </p:nvSpPr>
        <p:spPr>
          <a:xfrm>
            <a:off x="320040" y="987552"/>
            <a:ext cx="4160520" cy="1737360"/>
          </a:xfrm>
          <a:prstGeom prst="rect">
            <a:avLst/>
          </a:prstGeom>
          <a:solidFill>
            <a:srgbClr val="FFFFFF"/>
          </a:solidFill>
          <a:ln/>
          <a:effectLst>
            <a:outerShdw blurRad="63500" dist="25400" dir="8100000" algn="bl" rotWithShape="0">
              <a:srgbClr val="000000">
                <a:alpha val="10000"/>
              </a:srgbClr>
            </a:outerShdw>
          </a:effectLst>
        </p:spPr>
      </p:sp>
      <p:sp>
        <p:nvSpPr>
          <p:cNvPr id="9" name="Shape 7"/>
          <p:cNvSpPr/>
          <p:nvPr/>
        </p:nvSpPr>
        <p:spPr>
          <a:xfrm>
            <a:off x="320040" y="987552"/>
            <a:ext cx="4160520" cy="384048"/>
          </a:xfrm>
          <a:prstGeom prst="rect">
            <a:avLst/>
          </a:prstGeom>
          <a:solidFill>
            <a:srgbClr val="1B2A4A"/>
          </a:solidFill>
          <a:ln/>
        </p:spPr>
      </p:sp>
      <p:sp>
        <p:nvSpPr>
          <p:cNvPr id="10" name="Text 8"/>
          <p:cNvSpPr/>
          <p:nvPr/>
        </p:nvSpPr>
        <p:spPr>
          <a:xfrm>
            <a:off x="411480" y="987552"/>
            <a:ext cx="39776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 POLICY MAKERS</a:t>
            </a:r>
            <a:endParaRPr lang="en-US" sz="1100" dirty="0"/>
          </a:p>
        </p:txBody>
      </p:sp>
      <p:sp>
        <p:nvSpPr>
          <p:cNvPr id="11" name="Text 9"/>
          <p:cNvSpPr/>
          <p:nvPr/>
        </p:nvSpPr>
        <p:spPr>
          <a:xfrm>
            <a:off x="457200" y="1426464"/>
            <a:ext cx="3931920" cy="1234440"/>
          </a:xfrm>
          <a:prstGeom prst="rect">
            <a:avLst/>
          </a:prstGeom>
          <a:noFill/>
          <a:ln/>
        </p:spPr>
        <p:txBody>
          <a:bodyPr wrap="square" rtlCol="0" anchor="t"/>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Develop youth &amp; women-friendly financing (grants, low-interest loans)</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Simplify regulatory procedures for SMEs</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Provide tax incentives for startups &amp; innovative enterprises</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Strengthen market linkage programs</a:t>
            </a:r>
            <a:endParaRPr lang="en-US" sz="1050" dirty="0"/>
          </a:p>
        </p:txBody>
      </p:sp>
      <p:sp>
        <p:nvSpPr>
          <p:cNvPr id="12" name="Shape 10"/>
          <p:cNvSpPr/>
          <p:nvPr/>
        </p:nvSpPr>
        <p:spPr>
          <a:xfrm>
            <a:off x="4663440" y="987552"/>
            <a:ext cx="4160520" cy="1737360"/>
          </a:xfrm>
          <a:prstGeom prst="rect">
            <a:avLst/>
          </a:prstGeom>
          <a:solidFill>
            <a:srgbClr val="FFFFFF"/>
          </a:solidFill>
          <a:ln/>
          <a:effectLst>
            <a:outerShdw blurRad="63500" dist="25400" dir="8100000" algn="bl" rotWithShape="0">
              <a:srgbClr val="000000">
                <a:alpha val="10000"/>
              </a:srgbClr>
            </a:outerShdw>
          </a:effectLst>
        </p:spPr>
      </p:sp>
      <p:sp>
        <p:nvSpPr>
          <p:cNvPr id="13" name="Shape 11"/>
          <p:cNvSpPr/>
          <p:nvPr/>
        </p:nvSpPr>
        <p:spPr>
          <a:xfrm>
            <a:off x="4663440" y="987552"/>
            <a:ext cx="4160520" cy="384048"/>
          </a:xfrm>
          <a:prstGeom prst="rect">
            <a:avLst/>
          </a:prstGeom>
          <a:solidFill>
            <a:srgbClr val="0D7B7A"/>
          </a:solidFill>
          <a:ln/>
        </p:spPr>
      </p:sp>
      <p:sp>
        <p:nvSpPr>
          <p:cNvPr id="14" name="Text 12"/>
          <p:cNvSpPr/>
          <p:nvPr/>
        </p:nvSpPr>
        <p:spPr>
          <a:xfrm>
            <a:off x="4754880" y="987552"/>
            <a:ext cx="39776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 TVET INSTITUTIONS</a:t>
            </a:r>
            <a:endParaRPr lang="en-US" sz="1100" dirty="0"/>
          </a:p>
        </p:txBody>
      </p:sp>
      <p:sp>
        <p:nvSpPr>
          <p:cNvPr id="15" name="Text 13"/>
          <p:cNvSpPr/>
          <p:nvPr/>
        </p:nvSpPr>
        <p:spPr>
          <a:xfrm>
            <a:off x="4800600" y="1426464"/>
            <a:ext cx="3931920" cy="1234440"/>
          </a:xfrm>
          <a:prstGeom prst="rect">
            <a:avLst/>
          </a:prstGeom>
          <a:noFill/>
          <a:ln/>
        </p:spPr>
        <p:txBody>
          <a:bodyPr wrap="square" rtlCol="0" anchor="t"/>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Strengthen practical entrepreneurship training</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Integrate innovation &amp; digital skills in curricula</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Provide post-training mentorship &amp; industry partnerships</a:t>
            </a:r>
            <a:endParaRPr lang="en-US" sz="1050" dirty="0"/>
          </a:p>
        </p:txBody>
      </p:sp>
      <p:sp>
        <p:nvSpPr>
          <p:cNvPr id="16" name="Shape 14"/>
          <p:cNvSpPr/>
          <p:nvPr/>
        </p:nvSpPr>
        <p:spPr>
          <a:xfrm>
            <a:off x="320040" y="2862072"/>
            <a:ext cx="4160520" cy="1737360"/>
          </a:xfrm>
          <a:prstGeom prst="rect">
            <a:avLst/>
          </a:prstGeom>
          <a:solidFill>
            <a:srgbClr val="FFFFFF"/>
          </a:solidFill>
          <a:ln/>
          <a:effectLst>
            <a:outerShdw blurRad="63500" dist="25400" dir="8100000" algn="bl" rotWithShape="0">
              <a:srgbClr val="000000">
                <a:alpha val="10000"/>
              </a:srgbClr>
            </a:outerShdw>
          </a:effectLst>
        </p:spPr>
      </p:sp>
      <p:sp>
        <p:nvSpPr>
          <p:cNvPr id="17" name="Shape 15"/>
          <p:cNvSpPr/>
          <p:nvPr/>
        </p:nvSpPr>
        <p:spPr>
          <a:xfrm>
            <a:off x="320040" y="2862072"/>
            <a:ext cx="4160520" cy="384048"/>
          </a:xfrm>
          <a:prstGeom prst="rect">
            <a:avLst/>
          </a:prstGeom>
          <a:solidFill>
            <a:srgbClr val="4A6D8C"/>
          </a:solidFill>
          <a:ln/>
        </p:spPr>
      </p:sp>
      <p:sp>
        <p:nvSpPr>
          <p:cNvPr id="18" name="Text 16"/>
          <p:cNvSpPr/>
          <p:nvPr/>
        </p:nvSpPr>
        <p:spPr>
          <a:xfrm>
            <a:off x="411480" y="2862072"/>
            <a:ext cx="39776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 FINANCIAL INSTITUTIONS</a:t>
            </a:r>
            <a:endParaRPr lang="en-US" sz="1100" dirty="0"/>
          </a:p>
        </p:txBody>
      </p:sp>
      <p:sp>
        <p:nvSpPr>
          <p:cNvPr id="19" name="Text 17"/>
          <p:cNvSpPr/>
          <p:nvPr/>
        </p:nvSpPr>
        <p:spPr>
          <a:xfrm>
            <a:off x="457200" y="3300984"/>
            <a:ext cx="3931920" cy="1234440"/>
          </a:xfrm>
          <a:prstGeom prst="rect">
            <a:avLst/>
          </a:prstGeom>
          <a:noFill/>
          <a:ln/>
        </p:spPr>
        <p:txBody>
          <a:bodyPr wrap="square" rtlCol="0" anchor="t"/>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Design tailored financial products for youth &amp; women</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Promote financial literacy programs</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Encourage group lending &amp; savings models</a:t>
            </a:r>
            <a:endParaRPr lang="en-US" sz="1050" dirty="0"/>
          </a:p>
        </p:txBody>
      </p:sp>
      <p:sp>
        <p:nvSpPr>
          <p:cNvPr id="20" name="Shape 18"/>
          <p:cNvSpPr/>
          <p:nvPr/>
        </p:nvSpPr>
        <p:spPr>
          <a:xfrm>
            <a:off x="4663440" y="2862072"/>
            <a:ext cx="4160520" cy="1737360"/>
          </a:xfrm>
          <a:prstGeom prst="rect">
            <a:avLst/>
          </a:prstGeom>
          <a:solidFill>
            <a:srgbClr val="FFFFFF"/>
          </a:solidFill>
          <a:ln/>
          <a:effectLst>
            <a:outerShdw blurRad="63500" dist="25400" dir="8100000" algn="bl" rotWithShape="0">
              <a:srgbClr val="000000">
                <a:alpha val="10000"/>
              </a:srgbClr>
            </a:outerShdw>
          </a:effectLst>
        </p:spPr>
      </p:sp>
      <p:sp>
        <p:nvSpPr>
          <p:cNvPr id="21" name="Shape 19"/>
          <p:cNvSpPr/>
          <p:nvPr/>
        </p:nvSpPr>
        <p:spPr>
          <a:xfrm>
            <a:off x="4663440" y="2862072"/>
            <a:ext cx="4160520" cy="384048"/>
          </a:xfrm>
          <a:prstGeom prst="rect">
            <a:avLst/>
          </a:prstGeom>
          <a:solidFill>
            <a:srgbClr val="D4A017"/>
          </a:solidFill>
          <a:ln/>
        </p:spPr>
      </p:sp>
      <p:sp>
        <p:nvSpPr>
          <p:cNvPr id="22" name="Text 20"/>
          <p:cNvSpPr/>
          <p:nvPr/>
        </p:nvSpPr>
        <p:spPr>
          <a:xfrm>
            <a:off x="4754880" y="2862072"/>
            <a:ext cx="39776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 YOUTH &amp; WOMEN ENTREPRENEURS</a:t>
            </a:r>
            <a:endParaRPr lang="en-US" sz="1100" dirty="0"/>
          </a:p>
        </p:txBody>
      </p:sp>
      <p:sp>
        <p:nvSpPr>
          <p:cNvPr id="23" name="Text 21"/>
          <p:cNvSpPr/>
          <p:nvPr/>
        </p:nvSpPr>
        <p:spPr>
          <a:xfrm>
            <a:off x="4800600" y="3300984"/>
            <a:ext cx="3931920" cy="1234440"/>
          </a:xfrm>
          <a:prstGeom prst="rect">
            <a:avLst/>
          </a:prstGeom>
          <a:noFill/>
          <a:ln/>
        </p:spPr>
        <p:txBody>
          <a:bodyPr wrap="square" rtlCol="0" anchor="t"/>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Embrace continuous learning &amp; innovation</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Leverage digital platforms for market expansion</a:t>
            </a:r>
            <a:endParaRPr lang="en-US" sz="1050" dirty="0"/>
          </a:p>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Form networks &amp; cooperatives to improve bargaining power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4389120"/>
            <a:ext cx="9144000" cy="754380"/>
          </a:xfrm>
          <a:prstGeom prst="rect">
            <a:avLst/>
          </a:prstGeom>
          <a:solidFill>
            <a:srgbClr val="0D7B7A"/>
          </a:solidFill>
          <a:ln/>
        </p:spPr>
      </p:sp>
      <p:sp>
        <p:nvSpPr>
          <p:cNvPr id="6" name="Text 4"/>
          <p:cNvSpPr/>
          <p:nvPr/>
        </p:nvSpPr>
        <p:spPr>
          <a:xfrm>
            <a:off x="502920" y="320040"/>
            <a:ext cx="7772400" cy="45720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CONCLUSIONS</a:t>
            </a:r>
            <a:endParaRPr lang="en-US" sz="1300" dirty="0"/>
          </a:p>
        </p:txBody>
      </p:sp>
      <p:sp>
        <p:nvSpPr>
          <p:cNvPr id="7" name="Text 5"/>
          <p:cNvSpPr/>
          <p:nvPr/>
        </p:nvSpPr>
        <p:spPr>
          <a:xfrm>
            <a:off x="502920" y="777240"/>
            <a:ext cx="7772400" cy="8686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Entrepreneurship &amp; Innovation as Catalysts</a:t>
            </a:r>
            <a:endParaRPr lang="en-US" sz="2200" dirty="0"/>
          </a:p>
          <a:p>
            <a:pPr marL="0" indent="0">
              <a:buNone/>
            </a:pPr>
            <a:r>
              <a:rPr lang="en-US" sz="2200" b="1" dirty="0">
                <a:solidFill>
                  <a:srgbClr val="FFFFFF"/>
                </a:solidFill>
                <a:latin typeface="Calibri" pitchFamily="34" charset="0"/>
                <a:ea typeface="Calibri" pitchFamily="34" charset="-122"/>
                <a:cs typeface="Calibri" pitchFamily="34" charset="-120"/>
              </a:rPr>
              <a:t>for Economic Transformation</a:t>
            </a:r>
            <a:endParaRPr lang="en-US" sz="2200" dirty="0"/>
          </a:p>
        </p:txBody>
      </p:sp>
      <p:sp>
        <p:nvSpPr>
          <p:cNvPr id="8" name="Shape 6"/>
          <p:cNvSpPr/>
          <p:nvPr/>
        </p:nvSpPr>
        <p:spPr>
          <a:xfrm>
            <a:off x="502920" y="1664208"/>
            <a:ext cx="1828800" cy="54864"/>
          </a:xfrm>
          <a:prstGeom prst="rect">
            <a:avLst/>
          </a:prstGeom>
          <a:solidFill>
            <a:srgbClr val="D4A017"/>
          </a:solidFill>
          <a:ln/>
        </p:spPr>
      </p:sp>
      <p:sp>
        <p:nvSpPr>
          <p:cNvPr id="9" name="Shape 7"/>
          <p:cNvSpPr/>
          <p:nvPr/>
        </p:nvSpPr>
        <p:spPr>
          <a:xfrm>
            <a:off x="502920" y="1847088"/>
            <a:ext cx="320040" cy="438912"/>
          </a:xfrm>
          <a:prstGeom prst="rect">
            <a:avLst/>
          </a:prstGeom>
          <a:solidFill>
            <a:srgbClr val="D4A017"/>
          </a:solidFill>
          <a:ln/>
        </p:spPr>
      </p:sp>
      <p:sp>
        <p:nvSpPr>
          <p:cNvPr id="10" name="Text 8"/>
          <p:cNvSpPr/>
          <p:nvPr/>
        </p:nvSpPr>
        <p:spPr>
          <a:xfrm>
            <a:off x="502920" y="1847088"/>
            <a:ext cx="320040" cy="43891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914400" y="1847088"/>
            <a:ext cx="7772400" cy="43891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Entrepreneurship training enhances business start-up and job creation among youth and women.</a:t>
            </a:r>
            <a:endParaRPr lang="en-US" sz="1200" dirty="0"/>
          </a:p>
        </p:txBody>
      </p:sp>
      <p:sp>
        <p:nvSpPr>
          <p:cNvPr id="12" name="Shape 10"/>
          <p:cNvSpPr/>
          <p:nvPr/>
        </p:nvSpPr>
        <p:spPr>
          <a:xfrm>
            <a:off x="502920" y="2441448"/>
            <a:ext cx="320040" cy="438912"/>
          </a:xfrm>
          <a:prstGeom prst="rect">
            <a:avLst/>
          </a:prstGeom>
          <a:solidFill>
            <a:srgbClr val="D4A017"/>
          </a:solidFill>
          <a:ln/>
        </p:spPr>
      </p:sp>
      <p:sp>
        <p:nvSpPr>
          <p:cNvPr id="13" name="Text 11"/>
          <p:cNvSpPr/>
          <p:nvPr/>
        </p:nvSpPr>
        <p:spPr>
          <a:xfrm>
            <a:off x="502920" y="2441448"/>
            <a:ext cx="320040" cy="43891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914400" y="2441448"/>
            <a:ext cx="7772400" cy="43891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Innovation improves product quality, market competitiveness, and income sustainability.</a:t>
            </a:r>
            <a:endParaRPr lang="en-US" sz="1200" dirty="0"/>
          </a:p>
        </p:txBody>
      </p:sp>
      <p:sp>
        <p:nvSpPr>
          <p:cNvPr id="15" name="Shape 13"/>
          <p:cNvSpPr/>
          <p:nvPr/>
        </p:nvSpPr>
        <p:spPr>
          <a:xfrm>
            <a:off x="502920" y="3035808"/>
            <a:ext cx="320040" cy="438912"/>
          </a:xfrm>
          <a:prstGeom prst="rect">
            <a:avLst/>
          </a:prstGeom>
          <a:solidFill>
            <a:srgbClr val="D4A017"/>
          </a:solidFill>
          <a:ln/>
        </p:spPr>
      </p:sp>
      <p:sp>
        <p:nvSpPr>
          <p:cNvPr id="16" name="Text 14"/>
          <p:cNvSpPr/>
          <p:nvPr/>
        </p:nvSpPr>
        <p:spPr>
          <a:xfrm>
            <a:off x="502920" y="3035808"/>
            <a:ext cx="320040" cy="43891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914400" y="3035808"/>
            <a:ext cx="7772400" cy="43891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Entrepreneurship and innovation significantly improve economic well-being and future prospects.</a:t>
            </a:r>
            <a:endParaRPr lang="en-US" sz="1200" dirty="0"/>
          </a:p>
        </p:txBody>
      </p:sp>
      <p:sp>
        <p:nvSpPr>
          <p:cNvPr id="18" name="Shape 16"/>
          <p:cNvSpPr/>
          <p:nvPr/>
        </p:nvSpPr>
        <p:spPr>
          <a:xfrm>
            <a:off x="502920" y="3630168"/>
            <a:ext cx="320040" cy="438912"/>
          </a:xfrm>
          <a:prstGeom prst="rect">
            <a:avLst/>
          </a:prstGeom>
          <a:solidFill>
            <a:srgbClr val="D4A017"/>
          </a:solidFill>
          <a:ln/>
        </p:spPr>
      </p:sp>
      <p:sp>
        <p:nvSpPr>
          <p:cNvPr id="19" name="Text 17"/>
          <p:cNvSpPr/>
          <p:nvPr/>
        </p:nvSpPr>
        <p:spPr>
          <a:xfrm>
            <a:off x="502920" y="3630168"/>
            <a:ext cx="320040" cy="438912"/>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914400" y="3630168"/>
            <a:ext cx="7772400" cy="43891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Structural challenges  especially access to finance and regulatory barriers limit full empowerment potential.</a:t>
            </a:r>
            <a:endParaRPr lang="en-US" sz="1200" dirty="0"/>
          </a:p>
        </p:txBody>
      </p:sp>
      <p:sp>
        <p:nvSpPr>
          <p:cNvPr id="21" name="Text 19"/>
          <p:cNvSpPr/>
          <p:nvPr/>
        </p:nvSpPr>
        <p:spPr>
          <a:xfrm>
            <a:off x="502920" y="4279392"/>
            <a:ext cx="8229600" cy="749808"/>
          </a:xfrm>
          <a:prstGeom prst="rect">
            <a:avLst/>
          </a:prstGeom>
          <a:noFill/>
          <a:ln/>
        </p:spPr>
        <p:txBody>
          <a:bodyPr wrap="square" rtlCol="0" anchor="ctr"/>
          <a:lstStyle/>
          <a:p>
            <a:pPr marL="0" indent="0">
              <a:buNone/>
            </a:pPr>
            <a:r>
              <a:rPr lang="en-US" sz="1050" i="1" dirty="0">
                <a:solidFill>
                  <a:srgbClr val="A8C8D8"/>
                </a:solidFill>
                <a:latin typeface="Calibri" pitchFamily="34" charset="0"/>
                <a:ea typeface="Calibri" pitchFamily="34" charset="-122"/>
                <a:cs typeface="Calibri" pitchFamily="34" charset="-120"/>
              </a:rPr>
              <a:t>"Entrepreneurship and innovation are powerful tools for economic transformation among youth and women. Their impact is maximized when supported by inclusive policies, accessible financing, effective training systems, and enabling market environments."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D330A8-5092-A5BC-68C7-EA746AEA4F40}"/>
              </a:ext>
            </a:extLst>
          </p:cNvPr>
          <p:cNvSpPr/>
          <p:nvPr/>
        </p:nvSpPr>
        <p:spPr>
          <a:xfrm>
            <a:off x="1549021" y="1173707"/>
            <a:ext cx="6864824" cy="3631763"/>
          </a:xfrm>
          <a:prstGeom prst="rect">
            <a:avLst/>
          </a:prstGeom>
          <a:noFill/>
        </p:spPr>
        <p:txBody>
          <a:bodyPr wrap="square" lIns="91440" tIns="45720" rIns="91440" bIns="45720">
            <a:spAutoFit/>
          </a:bodyPr>
          <a:lstStyle/>
          <a:p>
            <a:pPr algn="ctr"/>
            <a:r>
              <a:rPr lang="en-US" sz="11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a:t>
            </a:r>
          </a:p>
          <a:p>
            <a:pPr algn="ctr"/>
            <a:r>
              <a:rPr lang="en-US" sz="115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YOU</a:t>
            </a:r>
            <a:endParaRPr lang="en-US" sz="11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068294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1081</Words>
  <Application>Microsoft Office PowerPoint</Application>
  <PresentationFormat>On-screen Show (16:9)</PresentationFormat>
  <Paragraphs>175</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&amp; Innovation - Joyce Kibote</dc:title>
  <dc:subject>PptxGenJS Presentation</dc:subject>
  <dc:creator>PptxGenJS</dc:creator>
  <cp:lastModifiedBy>Joel Files</cp:lastModifiedBy>
  <cp:revision>5</cp:revision>
  <dcterms:created xsi:type="dcterms:W3CDTF">2026-02-19T18:03:36Z</dcterms:created>
  <dcterms:modified xsi:type="dcterms:W3CDTF">2026-02-20T09:15:34Z</dcterms:modified>
</cp:coreProperties>
</file>